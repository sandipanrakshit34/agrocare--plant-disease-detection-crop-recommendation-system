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68" r:id="rId2"/>
    <p:sldId id="261" r:id="rId3"/>
    <p:sldId id="267" r:id="rId4"/>
    <p:sldId id="282" r:id="rId5"/>
    <p:sldId id="272" r:id="rId6"/>
    <p:sldId id="275" r:id="rId7"/>
    <p:sldId id="284" r:id="rId8"/>
    <p:sldId id="278" r:id="rId9"/>
    <p:sldId id="273" r:id="rId10"/>
    <p:sldId id="286" r:id="rId11"/>
    <p:sldId id="281" r:id="rId12"/>
    <p:sldId id="271" r:id="rId13"/>
    <p:sldId id="285" r:id="rId14"/>
    <p:sldId id="276" r:id="rId15"/>
    <p:sldId id="26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29498012-AD2E-5CD4-9AFD-E4A2CF8E7011}" name="Upayan Chakraborty" initials="UC" userId="be5c52729676a5eb" providerId="Windows Live"/>
  <p188:author id="{95582667-6102-27E7-ED8E-01A166EB4B6B}" name="Guest User" initials="GU" userId="Guest User"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9299"/>
    <a:srgbClr val="385B63"/>
    <a:srgbClr val="334B4F"/>
    <a:srgbClr val="2D474D"/>
    <a:srgbClr val="B8CCCF"/>
    <a:srgbClr val="1B2F33"/>
    <a:srgbClr val="0B343B"/>
    <a:srgbClr val="0F3E45"/>
    <a:srgbClr val="1C6E7A"/>
    <a:srgbClr val="4495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570829-CB89-1254-B6EB-8902A36027D3}" v="5" dt="2026-05-07T21:01:10.257"/>
    <p1510:client id="{CFBF6B01-3E66-DD3B-F60C-55A0ABC8BF57}" v="100" dt="2026-05-07T17:59:24.269"/>
    <p1510:client id="{D81F61A2-7687-5765-DB26-EEF44645F007}" v="521" dt="2026-05-07T20:54:37.3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8/10/relationships/authors" Target="authors.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C037F7-5013-4070-8D28-E6CABC0009FB}" type="datetimeFigureOut">
              <a:rPr lang="en-US" smtClean="0"/>
              <a:t>5/7/2026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1B024D-9462-47FE-8481-B552A8102AA6}" type="slidenum">
              <a:rPr lang="en-US" smtClean="0"/>
              <a:t>‹#›</a:t>
            </a:fld>
            <a:endParaRPr lang="en-US"/>
          </a:p>
        </p:txBody>
      </p:sp>
    </p:spTree>
    <p:extLst>
      <p:ext uri="{BB962C8B-B14F-4D97-AF65-F5344CB8AC3E}">
        <p14:creationId xmlns:p14="http://schemas.microsoft.com/office/powerpoint/2010/main" val="2637710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91E7F-3337-C47C-5E21-512B77E7A7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0F3A2D-D91D-AB81-DC6E-5D531491D8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E541B-896A-EA71-F240-E6EF51289DC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5789C51-C866-8715-7D29-B09FBA03FD0B}"/>
              </a:ext>
            </a:extLst>
          </p:cNvPr>
          <p:cNvSpPr>
            <a:spLocks noGrp="1"/>
          </p:cNvSpPr>
          <p:nvPr>
            <p:ph type="sldNum" sz="quarter" idx="5"/>
          </p:nvPr>
        </p:nvSpPr>
        <p:spPr/>
        <p:txBody>
          <a:bodyPr/>
          <a:lstStyle/>
          <a:p>
            <a:fld id="{CE1B024D-9462-47FE-8481-B552A8102AA6}" type="slidenum">
              <a:rPr lang="en-US" smtClean="0"/>
              <a:t>11</a:t>
            </a:fld>
            <a:endParaRPr lang="en-US"/>
          </a:p>
        </p:txBody>
      </p:sp>
    </p:spTree>
    <p:extLst>
      <p:ext uri="{BB962C8B-B14F-4D97-AF65-F5344CB8AC3E}">
        <p14:creationId xmlns:p14="http://schemas.microsoft.com/office/powerpoint/2010/main" val="2961525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84003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3F0F8196-D538-4A77-ACAB-A34D64651568}" type="slidenum">
              <a:rPr lang="en-IN" smtClean="0"/>
              <a:t>‹#›</a:t>
            </a:fld>
            <a:endParaRPr lang="en-IN"/>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fld id="{6D64C46B-9EFB-4DDF-A729-B75A78126272}" type="datetimeFigureOut">
              <a:rPr lang="en-IN" smtClean="0"/>
              <a:t>07-05-2026</a:t>
            </a:fld>
            <a:endParaRPr lang="en-IN"/>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993093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8637764"/>
      </p:ext>
    </p:extLst>
  </p:cSld>
  <p:clrMapOvr>
    <a:masterClrMapping/>
  </p:clrMapOvr>
  <p:extLst>
    <p:ext uri="{DCECCB84-F9BA-43D5-87BE-67443E8EF086}">
      <p15:sldGuideLst xmlns:p15="http://schemas.microsoft.com/office/powerpoint/2012/main">
        <p15:guide id="1" pos="7104">
          <p15:clr>
            <a:srgbClr val="FBAE40"/>
          </p15:clr>
        </p15:guide>
        <p15:guide id="2" pos="4344">
          <p15:clr>
            <a:srgbClr val="FBAE40"/>
          </p15:clr>
        </p15:guide>
        <p15:guide id="3" pos="4560">
          <p15:clr>
            <a:srgbClr val="FBAE40"/>
          </p15:clr>
        </p15:guide>
        <p15:guide id="4" orient="horz" pos="184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12357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3F0F8196-D538-4A77-ACAB-A34D64651568}" type="slidenum">
              <a:rPr lang="en-IN" smtClean="0"/>
              <a:t>‹#›</a:t>
            </a:fld>
            <a:endParaRPr lang="en-IN"/>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fld id="{6D64C46B-9EFB-4DDF-A729-B75A78126272}" type="datetimeFigureOut">
              <a:rPr lang="en-IN" smtClean="0"/>
              <a:t>07-05-2026</a:t>
            </a:fld>
            <a:endParaRPr lang="en-IN"/>
          </a:p>
        </p:txBody>
      </p:sp>
    </p:spTree>
    <p:extLst>
      <p:ext uri="{BB962C8B-B14F-4D97-AF65-F5344CB8AC3E}">
        <p14:creationId xmlns:p14="http://schemas.microsoft.com/office/powerpoint/2010/main" val="37168177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a:t>Click to add text</a:t>
            </a:r>
          </a:p>
        </p:txBody>
      </p:sp>
    </p:spTree>
    <p:extLst>
      <p:ext uri="{BB962C8B-B14F-4D97-AF65-F5344CB8AC3E}">
        <p14:creationId xmlns:p14="http://schemas.microsoft.com/office/powerpoint/2010/main" val="4071583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3F0F8196-D538-4A77-ACAB-A34D64651568}" type="slidenum">
              <a:rPr lang="en-IN" smtClean="0"/>
              <a:t>‹#›</a:t>
            </a:fld>
            <a:endParaRPr lang="en-IN"/>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fld id="{6D64C46B-9EFB-4DDF-A729-B75A78126272}" type="datetimeFigureOut">
              <a:rPr lang="en-IN" smtClean="0"/>
              <a:t>07-05-2026</a:t>
            </a:fld>
            <a:endParaRPr lang="en-IN"/>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7980322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a:t>Click to add content</a:t>
            </a:r>
          </a:p>
          <a:p>
            <a:pPr lvl="1"/>
            <a:r>
              <a:rPr lang="en-US"/>
              <a:t>Second level</a:t>
            </a:r>
          </a:p>
          <a:p>
            <a:pPr lvl="2"/>
            <a:r>
              <a:rPr lang="en-US"/>
              <a:t>Third level</a:t>
            </a:r>
          </a:p>
          <a:p>
            <a:pPr lvl="3"/>
            <a:endParaRPr lang="en-US"/>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3F0F8196-D538-4A77-ACAB-A34D64651568}" type="slidenum">
              <a:rPr lang="en-IN" smtClean="0"/>
              <a:t>‹#›</a:t>
            </a:fld>
            <a:endParaRPr lang="en-IN"/>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fld id="{6D64C46B-9EFB-4DDF-A729-B75A78126272}" type="datetimeFigureOut">
              <a:rPr lang="en-IN" smtClean="0"/>
              <a:t>07-05-2026</a:t>
            </a:fld>
            <a:endParaRPr lang="en-IN"/>
          </a:p>
        </p:txBody>
      </p:sp>
    </p:spTree>
    <p:extLst>
      <p:ext uri="{BB962C8B-B14F-4D97-AF65-F5344CB8AC3E}">
        <p14:creationId xmlns:p14="http://schemas.microsoft.com/office/powerpoint/2010/main" val="278119212"/>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3F0F8196-D538-4A77-ACAB-A34D64651568}" type="slidenum">
              <a:rPr lang="en-IN" smtClean="0"/>
              <a:t>‹#›</a:t>
            </a:fld>
            <a:endParaRPr lang="en-IN"/>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fld id="{6D64C46B-9EFB-4DDF-A729-B75A78126272}" type="datetimeFigureOut">
              <a:rPr lang="en-IN" smtClean="0"/>
              <a:t>07-05-2026</a:t>
            </a:fld>
            <a:endParaRPr lang="en-IN"/>
          </a:p>
        </p:txBody>
      </p:sp>
    </p:spTree>
    <p:extLst>
      <p:ext uri="{BB962C8B-B14F-4D97-AF65-F5344CB8AC3E}">
        <p14:creationId xmlns:p14="http://schemas.microsoft.com/office/powerpoint/2010/main" val="2610889002"/>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3F0F8196-D538-4A77-ACAB-A34D64651568}" type="slidenum">
              <a:rPr lang="en-IN" smtClean="0"/>
              <a:t>‹#›</a:t>
            </a:fld>
            <a:endParaRPr lang="en-IN"/>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fld id="{6D64C46B-9EFB-4DDF-A729-B75A78126272}" type="datetimeFigureOut">
              <a:rPr lang="en-IN" smtClean="0"/>
              <a:t>07-05-2026</a:t>
            </a:fld>
            <a:endParaRPr lang="en-IN"/>
          </a:p>
        </p:txBody>
      </p:sp>
    </p:spTree>
    <p:extLst>
      <p:ext uri="{BB962C8B-B14F-4D97-AF65-F5344CB8AC3E}">
        <p14:creationId xmlns:p14="http://schemas.microsoft.com/office/powerpoint/2010/main" val="201906669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fld id="{6D64C46B-9EFB-4DDF-A729-B75A78126272}" type="datetimeFigureOut">
              <a:rPr lang="en-IN" smtClean="0"/>
              <a:t>07-05-2026</a:t>
            </a:fld>
            <a:endParaRPr lang="en-IN"/>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3F0F8196-D538-4A77-ACAB-A34D64651568}" type="slidenum">
              <a:rPr lang="en-IN" smtClean="0"/>
              <a:t>‹#›</a:t>
            </a:fld>
            <a:endParaRPr lang="en-IN"/>
          </a:p>
        </p:txBody>
      </p:sp>
    </p:spTree>
    <p:extLst>
      <p:ext uri="{BB962C8B-B14F-4D97-AF65-F5344CB8AC3E}">
        <p14:creationId xmlns:p14="http://schemas.microsoft.com/office/powerpoint/2010/main" val="159076647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3F0F8196-D538-4A77-ACAB-A34D64651568}" type="slidenum">
              <a:rPr lang="en-IN" smtClean="0"/>
              <a:t>‹#›</a:t>
            </a:fld>
            <a:endParaRPr lang="en-IN"/>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fld id="{6D64C46B-9EFB-4DDF-A729-B75A78126272}" type="datetimeFigureOut">
              <a:rPr lang="en-IN" smtClean="0"/>
              <a:t>07-05-2026</a:t>
            </a:fld>
            <a:endParaRPr lang="en-IN"/>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83799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85716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fld id="{6D64C46B-9EFB-4DDF-A729-B75A78126272}" type="datetimeFigureOut">
              <a:rPr lang="en-IN" smtClean="0"/>
              <a:t>07-05-2026</a:t>
            </a:fld>
            <a:endParaRPr lang="en-IN"/>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3F0F8196-D538-4A77-ACAB-A34D64651568}" type="slidenum">
              <a:rPr lang="en-IN" smtClean="0"/>
              <a:t>‹#›</a:t>
            </a:fld>
            <a:endParaRPr lang="en-IN"/>
          </a:p>
        </p:txBody>
      </p:sp>
    </p:spTree>
    <p:extLst>
      <p:ext uri="{BB962C8B-B14F-4D97-AF65-F5344CB8AC3E}">
        <p14:creationId xmlns:p14="http://schemas.microsoft.com/office/powerpoint/2010/main" val="315961919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11.xml"/><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2E227-CE1A-68C2-A9A2-4C7AEE1390EF}"/>
              </a:ext>
            </a:extLst>
          </p:cNvPr>
          <p:cNvSpPr txBox="1">
            <a:spLocks/>
          </p:cNvSpPr>
          <p:nvPr/>
        </p:nvSpPr>
        <p:spPr>
          <a:xfrm>
            <a:off x="1" y="244699"/>
            <a:ext cx="12192000" cy="1627729"/>
          </a:xfrm>
          <a:prstGeom prst="rect">
            <a:avLst/>
          </a:prstGeom>
          <a:gradFill flip="none" rotWithShape="1">
            <a:gsLst>
              <a:gs pos="0">
                <a:schemeClr val="accent1">
                  <a:tint val="66000"/>
                  <a:satMod val="160000"/>
                </a:schemeClr>
              </a:gs>
              <a:gs pos="50000">
                <a:schemeClr val="accent1">
                  <a:tint val="44500"/>
                  <a:satMod val="160000"/>
                </a:schemeClr>
              </a:gs>
              <a:gs pos="95000">
                <a:schemeClr val="accent1">
                  <a:tint val="23500"/>
                  <a:satMod val="160000"/>
                  <a:alpha val="82000"/>
                </a:schemeClr>
              </a:gs>
            </a:gsLst>
            <a:lin ang="7800000" scaled="0"/>
            <a:tileRect/>
          </a:gradFill>
          <a:ln w="9525">
            <a:noFill/>
          </a:ln>
        </p:spPr>
        <p:txBody>
          <a:bodyPr lIns="91440" tIns="45720" rIns="91440" bIns="45720" anchor="ctr" anchorCtr="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en-US" sz="5000" b="1" err="1">
                <a:solidFill>
                  <a:sysClr val="windowText" lastClr="000000"/>
                </a:solidFill>
                <a:effectLst>
                  <a:outerShdw blurRad="38100" dist="38100" dir="2700000" algn="tl">
                    <a:srgbClr val="000000">
                      <a:alpha val="43137"/>
                    </a:srgbClr>
                  </a:outerShdw>
                </a:effectLst>
                <a:latin typeface="Times New Roman"/>
                <a:cs typeface="Times New Roman"/>
              </a:rPr>
              <a:t>AgroCare</a:t>
            </a:r>
            <a:r>
              <a:rPr lang="en-US" altLang="en-US" sz="5000" b="1">
                <a:solidFill>
                  <a:sysClr val="windowText" lastClr="000000"/>
                </a:solidFill>
                <a:effectLst>
                  <a:outerShdw blurRad="38100" dist="38100" dir="2700000" algn="tl">
                    <a:srgbClr val="000000">
                      <a:alpha val="43137"/>
                    </a:srgbClr>
                  </a:outerShdw>
                </a:effectLst>
                <a:latin typeface="Times New Roman"/>
                <a:cs typeface="Times New Roman"/>
              </a:rPr>
              <a:t>: Plant Disease Detection &amp; Crop Recommendation System</a:t>
            </a:r>
          </a:p>
        </p:txBody>
      </p:sp>
      <p:sp>
        <p:nvSpPr>
          <p:cNvPr id="3" name="Subtitle 2">
            <a:extLst>
              <a:ext uri="{FF2B5EF4-FFF2-40B4-BE49-F238E27FC236}">
                <a16:creationId xmlns:a16="http://schemas.microsoft.com/office/drawing/2014/main" id="{49C28B29-0B56-8AF4-DBD8-D99E5A82DAA4}"/>
              </a:ext>
            </a:extLst>
          </p:cNvPr>
          <p:cNvSpPr txBox="1">
            <a:spLocks/>
          </p:cNvSpPr>
          <p:nvPr/>
        </p:nvSpPr>
        <p:spPr>
          <a:xfrm>
            <a:off x="3275450" y="3761118"/>
            <a:ext cx="5641100" cy="2679655"/>
          </a:xfrm>
          <a:prstGeom prst="rect">
            <a:avLst/>
          </a:prstGeom>
          <a:gradFill flip="none" rotWithShape="1">
            <a:gsLst>
              <a:gs pos="0">
                <a:schemeClr val="accent1">
                  <a:tint val="66000"/>
                  <a:satMod val="160000"/>
                  <a:alpha val="42000"/>
                </a:schemeClr>
              </a:gs>
              <a:gs pos="36000">
                <a:schemeClr val="accent1">
                  <a:tint val="44500"/>
                  <a:satMod val="160000"/>
                </a:schemeClr>
              </a:gs>
              <a:gs pos="100000">
                <a:schemeClr val="accent1">
                  <a:tint val="23500"/>
                  <a:satMod val="160000"/>
                </a:schemeClr>
              </a:gs>
            </a:gsLst>
            <a:lin ang="0" scaled="0"/>
            <a:tileRect/>
          </a:gradFill>
          <a:ln w="9525">
            <a:noFill/>
          </a:ln>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ct val="150000"/>
              </a:lnSpc>
              <a:buNone/>
            </a:pPr>
            <a:r>
              <a:rPr lang="en-US" altLang="en-IN" sz="2400">
                <a:solidFill>
                  <a:sysClr val="windowText" lastClr="000000"/>
                </a:solidFill>
                <a:latin typeface="Times New Roman" panose="02020603050405020304" pitchFamily="18" charset="0"/>
                <a:cs typeface="Times New Roman" panose="02020603050405020304" pitchFamily="18" charset="0"/>
              </a:rPr>
              <a:t>Presented by:</a:t>
            </a:r>
          </a:p>
          <a:p>
            <a:pPr algn="ctr"/>
            <a:r>
              <a:rPr lang="en-US" altLang="en-US" sz="2500">
                <a:solidFill>
                  <a:sysClr val="windowText" lastClr="000000"/>
                </a:solidFill>
                <a:latin typeface="Times New Roman" panose="02020603050405020304" pitchFamily="18" charset="0"/>
                <a:cs typeface="Times New Roman" panose="02020603050405020304" pitchFamily="18" charset="0"/>
              </a:rPr>
              <a:t>Upayan Chakraborty (11600222134)</a:t>
            </a:r>
            <a:endParaRPr lang="en-US" sz="2500">
              <a:latin typeface="Times New Roman" panose="02020603050405020304" pitchFamily="18" charset="0"/>
              <a:cs typeface="Times New Roman" panose="02020603050405020304" pitchFamily="18" charset="0"/>
            </a:endParaRPr>
          </a:p>
          <a:p>
            <a:pPr marL="0" indent="0" algn="ctr">
              <a:buNone/>
            </a:pPr>
            <a:r>
              <a:rPr lang="en-US" altLang="en-US" sz="2500">
                <a:solidFill>
                  <a:sysClr val="windowText" lastClr="000000"/>
                </a:solidFill>
                <a:latin typeface="Times New Roman" panose="02020603050405020304" pitchFamily="18" charset="0"/>
                <a:cs typeface="Times New Roman" panose="02020603050405020304" pitchFamily="18" charset="0"/>
              </a:rPr>
              <a:t>Prerana Maiti (11600222070)</a:t>
            </a:r>
          </a:p>
          <a:p>
            <a:pPr marL="0" indent="0" algn="ctr">
              <a:buNone/>
            </a:pPr>
            <a:r>
              <a:rPr lang="en-US" altLang="en-US" sz="2500" err="1">
                <a:solidFill>
                  <a:sysClr val="windowText" lastClr="000000"/>
                </a:solidFill>
                <a:latin typeface="Times New Roman" panose="02020603050405020304" pitchFamily="18" charset="0"/>
                <a:cs typeface="Times New Roman" panose="02020603050405020304" pitchFamily="18" charset="0"/>
              </a:rPr>
              <a:t>Mrigangana</a:t>
            </a:r>
            <a:r>
              <a:rPr lang="en-US" altLang="en-US" sz="2500">
                <a:solidFill>
                  <a:sysClr val="windowText" lastClr="000000"/>
                </a:solidFill>
                <a:latin typeface="Times New Roman" panose="02020603050405020304" pitchFamily="18" charset="0"/>
                <a:cs typeface="Times New Roman" panose="02020603050405020304" pitchFamily="18" charset="0"/>
              </a:rPr>
              <a:t> Sarkar (11600222062)</a:t>
            </a:r>
          </a:p>
          <a:p>
            <a:pPr marL="0" indent="0" algn="ctr">
              <a:buNone/>
            </a:pPr>
            <a:r>
              <a:rPr lang="en-US" altLang="en-US" sz="2500">
                <a:solidFill>
                  <a:sysClr val="windowText" lastClr="000000"/>
                </a:solidFill>
                <a:latin typeface="Times New Roman" panose="02020603050405020304" pitchFamily="18" charset="0"/>
                <a:cs typeface="Times New Roman" panose="02020603050405020304" pitchFamily="18" charset="0"/>
              </a:rPr>
              <a:t>Sandipan Rakshit (11600222092)</a:t>
            </a:r>
          </a:p>
          <a:p>
            <a:pPr marL="0" indent="0" algn="ctr">
              <a:buNone/>
            </a:pPr>
            <a:r>
              <a:rPr lang="en-US" altLang="en-US" sz="2500">
                <a:solidFill>
                  <a:sysClr val="windowText" lastClr="000000"/>
                </a:solidFill>
                <a:latin typeface="Times New Roman" panose="02020603050405020304" pitchFamily="18" charset="0"/>
                <a:cs typeface="Times New Roman" panose="02020603050405020304" pitchFamily="18" charset="0"/>
              </a:rPr>
              <a:t>Souvik Ghosh (11600222117)</a:t>
            </a:r>
          </a:p>
        </p:txBody>
      </p:sp>
      <p:sp>
        <p:nvSpPr>
          <p:cNvPr id="4" name="TextBox 1">
            <a:extLst>
              <a:ext uri="{FF2B5EF4-FFF2-40B4-BE49-F238E27FC236}">
                <a16:creationId xmlns:a16="http://schemas.microsoft.com/office/drawing/2014/main" id="{C754C035-3D60-9A95-4936-EFE32332C291}"/>
              </a:ext>
            </a:extLst>
          </p:cNvPr>
          <p:cNvSpPr txBox="1"/>
          <p:nvPr/>
        </p:nvSpPr>
        <p:spPr>
          <a:xfrm>
            <a:off x="1085227" y="2055532"/>
            <a:ext cx="9885872" cy="150810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2000">
                <a:ln w="0"/>
                <a:solidFill>
                  <a:schemeClr val="bg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Under the Guidance </a:t>
            </a:r>
          </a:p>
          <a:p>
            <a:pPr algn="ctr"/>
            <a:r>
              <a:rPr lang="en-IN" sz="2000">
                <a:ln w="0"/>
                <a:solidFill>
                  <a:schemeClr val="bg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of </a:t>
            </a:r>
          </a:p>
          <a:p>
            <a:pPr algn="ctr"/>
            <a:r>
              <a:rPr lang="en-IN" sz="3200" b="1">
                <a:ln w="0"/>
                <a:solidFill>
                  <a:schemeClr val="bg1"/>
                </a:solidFill>
                <a:latin typeface="Times New Roman" panose="02020603050405020304" pitchFamily="18" charset="0"/>
                <a:cs typeface="Times New Roman" panose="02020603050405020304" pitchFamily="18" charset="0"/>
              </a:rPr>
              <a:t>Prof. (Dr.) S. S. Thakur</a:t>
            </a:r>
          </a:p>
          <a:p>
            <a:pPr algn="ctr"/>
            <a:r>
              <a:rPr lang="en-IN" sz="2000">
                <a:ln w="0"/>
                <a:solidFill>
                  <a:schemeClr val="bg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Professor, Dept. of CSE</a:t>
            </a:r>
          </a:p>
        </p:txBody>
      </p:sp>
    </p:spTree>
    <p:extLst>
      <p:ext uri="{BB962C8B-B14F-4D97-AF65-F5344CB8AC3E}">
        <p14:creationId xmlns:p14="http://schemas.microsoft.com/office/powerpoint/2010/main" val="80998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8C735-EC43-2751-2D4C-99E9E8FB7A84}"/>
              </a:ext>
            </a:extLst>
          </p:cNvPr>
          <p:cNvSpPr txBox="1">
            <a:spLocks/>
          </p:cNvSpPr>
          <p:nvPr/>
        </p:nvSpPr>
        <p:spPr>
          <a:xfrm>
            <a:off x="838200" y="472356"/>
            <a:ext cx="10515600" cy="717585"/>
          </a:xfrm>
          <a:prstGeom prst="rect">
            <a:avLst/>
          </a:prstGeom>
        </p:spPr>
        <p:txBody>
          <a:bodyPr vert="horz" lIns="0" tIns="0" rIns="0" bIns="0" rtlCol="0" anchor="ctr">
            <a:noAutofit/>
          </a:bodyPr>
          <a:lstStyle>
            <a:lvl1pPr algn="l" defTabSz="914400" rtl="0" eaLnBrk="1" latinLnBrk="0" hangingPunct="1">
              <a:lnSpc>
                <a:spcPct val="80000"/>
              </a:lnSpc>
              <a:spcBef>
                <a:spcPct val="0"/>
              </a:spcBef>
              <a:buNone/>
              <a:defRPr sz="60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IN" sz="4200">
                <a:latin typeface="Times New Roman"/>
                <a:cs typeface="Times New Roman"/>
              </a:rPr>
              <a:t>Acknowledgement</a:t>
            </a:r>
          </a:p>
        </p:txBody>
      </p:sp>
      <p:sp>
        <p:nvSpPr>
          <p:cNvPr id="3" name="Content Placeholder 2">
            <a:extLst>
              <a:ext uri="{FF2B5EF4-FFF2-40B4-BE49-F238E27FC236}">
                <a16:creationId xmlns:a16="http://schemas.microsoft.com/office/drawing/2014/main" id="{D8167541-4848-03C0-6771-841F68B183EB}"/>
              </a:ext>
            </a:extLst>
          </p:cNvPr>
          <p:cNvSpPr txBox="1">
            <a:spLocks/>
          </p:cNvSpPr>
          <p:nvPr/>
        </p:nvSpPr>
        <p:spPr>
          <a:xfrm>
            <a:off x="534839" y="1480485"/>
            <a:ext cx="11110822" cy="4432894"/>
          </a:xfrm>
          <a:prstGeom prst="rect">
            <a:avLst/>
          </a:prstGeom>
          <a:gradFill flip="none" rotWithShape="1">
            <a:gsLst>
              <a:gs pos="0">
                <a:schemeClr val="accent1">
                  <a:tint val="66000"/>
                  <a:satMod val="160000"/>
                </a:schemeClr>
              </a:gs>
              <a:gs pos="50000">
                <a:schemeClr val="accent1">
                  <a:tint val="44500"/>
                  <a:satMod val="160000"/>
                </a:schemeClr>
              </a:gs>
              <a:gs pos="89000">
                <a:schemeClr val="accent1">
                  <a:tint val="23500"/>
                  <a:satMod val="160000"/>
                  <a:alpha val="80000"/>
                </a:schemeClr>
              </a:gs>
            </a:gsLst>
            <a:lin ang="8400000" scaled="0"/>
            <a:tileRect/>
          </a:gradFill>
        </p:spPr>
        <p:txBody>
          <a:bodyPr lIns="91440" tIns="45720" rIns="91440" bIns="45720" anchor="t">
            <a:noAutofit/>
          </a:bodyPr>
          <a:lst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altLang="en-US" sz="2000">
                <a:latin typeface="Times New Roman"/>
                <a:cs typeface="Times New Roman"/>
              </a:rPr>
              <a:t>We sincerely thank everyone who contributed to our ongoing project, "</a:t>
            </a:r>
            <a:r>
              <a:rPr lang="en-US" altLang="en-US" sz="2000" err="1">
                <a:latin typeface="Times New Roman"/>
                <a:cs typeface="Times New Roman"/>
              </a:rPr>
              <a:t>AgroCare</a:t>
            </a:r>
            <a:r>
              <a:rPr lang="en-US" altLang="en-US" sz="2000">
                <a:latin typeface="Times New Roman"/>
                <a:cs typeface="Times New Roman"/>
              </a:rPr>
              <a:t>: Plant disease detection &amp; Crop Recommendation System".</a:t>
            </a:r>
            <a:endParaRPr lang="en-US">
              <a:latin typeface="Times New Roman"/>
              <a:cs typeface="Times New Roman"/>
            </a:endParaRPr>
          </a:p>
          <a:p>
            <a:pPr marL="0" indent="0">
              <a:lnSpc>
                <a:spcPct val="100000"/>
              </a:lnSpc>
              <a:buFont typeface="Arial" panose="020B0604020202020204" pitchFamily="34" charset="0"/>
              <a:buNone/>
            </a:pPr>
            <a:r>
              <a:rPr lang="en-US" altLang="en-US" sz="2000">
                <a:latin typeface="Times New Roman"/>
                <a:cs typeface="Times New Roman"/>
              </a:rPr>
              <a:t>Our deepest gratitude goes to our guide, Prof. Dr. S. S. Thakur, for his invaluable guidance and support. We also extend heartfelt thanks to Mr. Avijit Bose and Mr. Sumit Majumdar for their continuous support and facilitating our research.</a:t>
            </a:r>
          </a:p>
          <a:p>
            <a:pPr marL="0" indent="0">
              <a:lnSpc>
                <a:spcPct val="100000"/>
              </a:lnSpc>
              <a:buNone/>
            </a:pPr>
            <a:r>
              <a:rPr lang="en-US" altLang="en-US" sz="2000">
                <a:latin typeface="Times New Roman"/>
                <a:cs typeface="Times New Roman"/>
              </a:rPr>
              <a:t>We are grateful to all faculty members of the CSE Department at MCKV Institute of Engineering for their assistance and resources. </a:t>
            </a:r>
          </a:p>
          <a:p>
            <a:pPr marL="0" indent="0">
              <a:lnSpc>
                <a:spcPct val="100000"/>
              </a:lnSpc>
              <a:buNone/>
            </a:pPr>
            <a:r>
              <a:rPr lang="en-US" sz="2000">
                <a:latin typeface="Times New Roman"/>
                <a:cs typeface="Times New Roman"/>
              </a:rPr>
              <a:t>We are greatly indebted to Mr. Arijit Sen and Mr. Ajoy Ghoshal for his guidance and assistance in the hardware section of our project.</a:t>
            </a:r>
            <a:endParaRPr lang="en-US" altLang="en-US" sz="2000">
              <a:latin typeface="Times New Roman"/>
              <a:cs typeface="Times New Roman"/>
            </a:endParaRPr>
          </a:p>
          <a:p>
            <a:pPr marL="0" indent="0">
              <a:lnSpc>
                <a:spcPct val="100000"/>
              </a:lnSpc>
              <a:buFont typeface="Arial" panose="020B0604020202020204" pitchFamily="34" charset="0"/>
              <a:buNone/>
            </a:pPr>
            <a:r>
              <a:rPr lang="en-US" altLang="en-US" sz="2000">
                <a:latin typeface="Times New Roman"/>
                <a:cs typeface="Times New Roman"/>
              </a:rPr>
              <a:t>We are grateful to our peers for their feedback and collaboration.</a:t>
            </a:r>
          </a:p>
          <a:p>
            <a:pPr marL="0" indent="0">
              <a:lnSpc>
                <a:spcPct val="100000"/>
              </a:lnSpc>
              <a:buFont typeface="Arial" panose="020B0604020202020204" pitchFamily="34" charset="0"/>
              <a:buNone/>
            </a:pPr>
            <a:r>
              <a:rPr lang="en-US" altLang="en-US" sz="2000">
                <a:latin typeface="Times New Roman"/>
                <a:cs typeface="Times New Roman"/>
              </a:rPr>
              <a:t>Finally, we deeply appreciate the unwavering support, patience, and motivation from our friends and families.</a:t>
            </a:r>
          </a:p>
        </p:txBody>
      </p:sp>
    </p:spTree>
    <p:extLst>
      <p:ext uri="{BB962C8B-B14F-4D97-AF65-F5344CB8AC3E}">
        <p14:creationId xmlns:p14="http://schemas.microsoft.com/office/powerpoint/2010/main" val="1290104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609599" y="511708"/>
            <a:ext cx="10972800" cy="726386"/>
          </a:xfrm>
          <a:prstGeom prst="rect">
            <a:avLst/>
          </a:prstGeom>
        </p:spPr>
        <p:txBody>
          <a:bodyPr vert="horz" lIns="0" tIns="0" rIns="0" bIns="0" rtlCol="0" anchor="b">
            <a:noAutofit/>
          </a:bodyPr>
          <a:lstStyle>
            <a:lvl1pPr algn="l" defTabSz="914400" rtl="0" eaLnBrk="1" latinLnBrk="0" hangingPunct="1">
              <a:lnSpc>
                <a:spcPct val="80000"/>
              </a:lnSpc>
              <a:spcBef>
                <a:spcPct val="0"/>
              </a:spcBef>
              <a:buNone/>
              <a:defRPr sz="60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200">
                <a:latin typeface="Times New Roman"/>
                <a:cs typeface="Times New Roman"/>
              </a:rPr>
              <a:t>Contents</a:t>
            </a:r>
          </a:p>
        </p:txBody>
      </p:sp>
      <p:sp>
        <p:nvSpPr>
          <p:cNvPr id="3" name="Rectangle 2">
            <a:extLst>
              <a:ext uri="{FF2B5EF4-FFF2-40B4-BE49-F238E27FC236}">
                <a16:creationId xmlns:a16="http://schemas.microsoft.com/office/drawing/2014/main" id="{0FB28284-A127-514C-6758-B62EB68060C0}"/>
              </a:ext>
            </a:extLst>
          </p:cNvPr>
          <p:cNvSpPr/>
          <p:nvPr/>
        </p:nvSpPr>
        <p:spPr>
          <a:xfrm>
            <a:off x="6214533" y="3759200"/>
            <a:ext cx="2353733" cy="4064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a:cs typeface="Times New Roman"/>
            </a:endParaRPr>
          </a:p>
        </p:txBody>
      </p:sp>
      <p:sp>
        <p:nvSpPr>
          <p:cNvPr id="4" name="TextBox 3"/>
          <p:cNvSpPr txBox="1"/>
          <p:nvPr/>
        </p:nvSpPr>
        <p:spPr>
          <a:xfrm>
            <a:off x="1770331" y="1871433"/>
            <a:ext cx="8665560" cy="3939540"/>
          </a:xfrm>
          <a:prstGeom prst="rect">
            <a:avLst/>
          </a:prstGeom>
          <a:gradFill flip="none" rotWithShape="1">
            <a:gsLst>
              <a:gs pos="4000">
                <a:schemeClr val="accent1">
                  <a:tint val="66000"/>
                  <a:satMod val="160000"/>
                </a:schemeClr>
              </a:gs>
              <a:gs pos="30000">
                <a:schemeClr val="accent1">
                  <a:tint val="44500"/>
                  <a:satMod val="160000"/>
                </a:schemeClr>
              </a:gs>
              <a:gs pos="38000">
                <a:schemeClr val="accent1">
                  <a:tint val="23500"/>
                  <a:satMod val="160000"/>
                  <a:alpha val="92000"/>
                </a:schemeClr>
              </a:gs>
            </a:gsLst>
            <a:lin ang="7800000" scaled="0"/>
            <a:tileRect/>
          </a:gradFill>
        </p:spPr>
        <p:txBody>
          <a:bodyPr wrap="square" lIns="91440" tIns="45720" rIns="91440" bIns="45720" rtlCol="0" anchor="t">
            <a:spAutoFit/>
          </a:bodyPr>
          <a:lstStyle/>
          <a:p>
            <a:pPr marL="457200" indent="-457200">
              <a:buFont typeface="Wingdings" panose="05000000000000000000" pitchFamily="2" charset="2"/>
              <a:buChar char="Ø"/>
            </a:pPr>
            <a:r>
              <a:rPr lang="en-US" sz="2500">
                <a:solidFill>
                  <a:schemeClr val="bg1"/>
                </a:solidFill>
                <a:latin typeface="Times New Roman"/>
                <a:cs typeface="Times New Roman"/>
              </a:rPr>
              <a:t>Introduction</a:t>
            </a:r>
          </a:p>
          <a:p>
            <a:pPr marL="457200" indent="-457200">
              <a:buFont typeface="Wingdings" panose="05000000000000000000" pitchFamily="2" charset="2"/>
              <a:buChar char="Ø"/>
            </a:pPr>
            <a:r>
              <a:rPr lang="en-US" sz="2500">
                <a:solidFill>
                  <a:schemeClr val="bg1"/>
                </a:solidFill>
                <a:latin typeface="Times New Roman"/>
                <a:cs typeface="Times New Roman"/>
              </a:rPr>
              <a:t>Crop Recommendation System Workflow</a:t>
            </a:r>
            <a:endParaRPr lang="en-US" sz="2500" dirty="0">
              <a:solidFill>
                <a:schemeClr val="bg1"/>
              </a:solidFill>
              <a:latin typeface="Times New Roman"/>
              <a:cs typeface="Times New Roman"/>
            </a:endParaRPr>
          </a:p>
          <a:p>
            <a:pPr marL="457200" indent="-457200">
              <a:buFont typeface="Wingdings" panose="05000000000000000000" pitchFamily="2" charset="2"/>
              <a:buChar char="Ø"/>
            </a:pPr>
            <a:r>
              <a:rPr lang="en-US" sz="2500" dirty="0" err="1">
                <a:solidFill>
                  <a:schemeClr val="bg1"/>
                </a:solidFill>
                <a:latin typeface="Times New Roman"/>
                <a:cs typeface="Times New Roman"/>
              </a:rPr>
              <a:t>OpenWeatherMap</a:t>
            </a:r>
            <a:r>
              <a:rPr lang="en-US" sz="2500" dirty="0">
                <a:solidFill>
                  <a:schemeClr val="bg1"/>
                </a:solidFill>
                <a:latin typeface="Times New Roman"/>
                <a:cs typeface="Times New Roman"/>
              </a:rPr>
              <a:t> API Integration</a:t>
            </a:r>
          </a:p>
          <a:p>
            <a:pPr marL="457200" indent="-457200">
              <a:buFont typeface="Wingdings" panose="05000000000000000000" pitchFamily="2" charset="2"/>
              <a:buChar char="Ø"/>
            </a:pPr>
            <a:r>
              <a:rPr lang="en-US" sz="2500">
                <a:solidFill>
                  <a:schemeClr val="bg1"/>
                </a:solidFill>
                <a:latin typeface="Times New Roman"/>
                <a:cs typeface="Times New Roman"/>
              </a:rPr>
              <a:t>Chatbot Workflow</a:t>
            </a:r>
            <a:endParaRPr lang="en-US" sz="2500" dirty="0">
              <a:solidFill>
                <a:schemeClr val="bg1"/>
              </a:solidFill>
              <a:latin typeface="Times New Roman"/>
              <a:cs typeface="Times New Roman"/>
            </a:endParaRPr>
          </a:p>
          <a:p>
            <a:pPr marL="457200" indent="-457200">
              <a:buFont typeface="Wingdings" panose="05000000000000000000" pitchFamily="2" charset="2"/>
              <a:buChar char="Ø"/>
            </a:pPr>
            <a:r>
              <a:rPr lang="en-US" sz="2500">
                <a:solidFill>
                  <a:schemeClr val="bg1"/>
                </a:solidFill>
                <a:latin typeface="Times New Roman"/>
                <a:cs typeface="Times New Roman"/>
              </a:rPr>
              <a:t>PCB Design</a:t>
            </a:r>
            <a:endParaRPr lang="en-US" sz="2500" dirty="0">
              <a:solidFill>
                <a:schemeClr val="bg1"/>
              </a:solidFill>
              <a:latin typeface="Times New Roman"/>
              <a:cs typeface="Times New Roman"/>
            </a:endParaRPr>
          </a:p>
          <a:p>
            <a:pPr marL="457200" indent="-457200">
              <a:buFont typeface="Wingdings" panose="05000000000000000000" pitchFamily="2" charset="2"/>
              <a:buChar char="Ø"/>
            </a:pPr>
            <a:r>
              <a:rPr lang="en-US" sz="2500">
                <a:solidFill>
                  <a:schemeClr val="bg1"/>
                </a:solidFill>
                <a:latin typeface="Times New Roman"/>
                <a:cs typeface="Times New Roman"/>
              </a:rPr>
              <a:t>Circuit Diagram</a:t>
            </a:r>
            <a:endParaRPr lang="en-US" sz="2500" dirty="0">
              <a:solidFill>
                <a:schemeClr val="bg1"/>
              </a:solidFill>
              <a:latin typeface="Times New Roman"/>
              <a:cs typeface="Times New Roman"/>
            </a:endParaRPr>
          </a:p>
          <a:p>
            <a:pPr marL="457200" indent="-457200">
              <a:buFont typeface="Wingdings" panose="05000000000000000000" pitchFamily="2" charset="2"/>
              <a:buChar char="Ø"/>
            </a:pPr>
            <a:r>
              <a:rPr lang="en-US" sz="2500">
                <a:solidFill>
                  <a:schemeClr val="bg1"/>
                </a:solidFill>
                <a:latin typeface="Times New Roman"/>
                <a:cs typeface="Times New Roman"/>
              </a:rPr>
              <a:t>Hardware Integration</a:t>
            </a:r>
            <a:endParaRPr lang="en-US" sz="2500" dirty="0">
              <a:solidFill>
                <a:schemeClr val="bg1"/>
              </a:solidFill>
              <a:latin typeface="Times New Roman"/>
              <a:cs typeface="Times New Roman"/>
            </a:endParaRPr>
          </a:p>
          <a:p>
            <a:pPr marL="457200" indent="-457200">
              <a:buFont typeface="Wingdings" panose="05000000000000000000" pitchFamily="2" charset="2"/>
              <a:buChar char="Ø"/>
            </a:pPr>
            <a:r>
              <a:rPr lang="en-US" sz="2500">
                <a:solidFill>
                  <a:schemeClr val="bg1"/>
                </a:solidFill>
                <a:latin typeface="Times New Roman"/>
                <a:cs typeface="Times New Roman"/>
              </a:rPr>
              <a:t>Software Output</a:t>
            </a:r>
            <a:endParaRPr lang="en-US" sz="2500" dirty="0">
              <a:solidFill>
                <a:schemeClr val="bg1"/>
              </a:solidFill>
              <a:latin typeface="Times New Roman"/>
              <a:cs typeface="Times New Roman"/>
            </a:endParaRPr>
          </a:p>
          <a:p>
            <a:pPr marL="457200" indent="-457200">
              <a:buFont typeface="Wingdings" panose="05000000000000000000" pitchFamily="2" charset="2"/>
              <a:buChar char="Ø"/>
            </a:pPr>
            <a:r>
              <a:rPr lang="en-US" sz="2500">
                <a:solidFill>
                  <a:schemeClr val="bg1"/>
                </a:solidFill>
                <a:latin typeface="Times New Roman"/>
                <a:cs typeface="Times New Roman"/>
              </a:rPr>
              <a:t>Chatbot Output</a:t>
            </a:r>
            <a:endParaRPr lang="en-US" sz="2500" dirty="0">
              <a:solidFill>
                <a:schemeClr val="bg1"/>
              </a:solidFill>
              <a:latin typeface="Times New Roman"/>
              <a:cs typeface="Times New Roman"/>
            </a:endParaRPr>
          </a:p>
          <a:p>
            <a:pPr marL="457200" indent="-457200">
              <a:buFont typeface="Wingdings" panose="05000000000000000000" pitchFamily="2" charset="2"/>
              <a:buChar char="Ø"/>
            </a:pPr>
            <a:r>
              <a:rPr lang="en-US" sz="2500">
                <a:solidFill>
                  <a:schemeClr val="bg1"/>
                </a:solidFill>
                <a:latin typeface="Times New Roman"/>
                <a:cs typeface="Times New Roman"/>
              </a:rPr>
              <a:t>Hardware Output</a:t>
            </a:r>
            <a:endParaRPr lang="en-US" sz="2500" dirty="0">
              <a:solidFill>
                <a:schemeClr val="bg1"/>
              </a:solidFill>
              <a:latin typeface="Times New Roman"/>
              <a:cs typeface="Times New Roman"/>
            </a:endParaRPr>
          </a:p>
        </p:txBody>
      </p:sp>
    </p:spTree>
    <p:extLst>
      <p:ext uri="{BB962C8B-B14F-4D97-AF65-F5344CB8AC3E}">
        <p14:creationId xmlns:p14="http://schemas.microsoft.com/office/powerpoint/2010/main" val="2722763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3A3B928-947E-6621-A81C-6A4A7FA4AE49}"/>
              </a:ext>
            </a:extLst>
          </p:cNvPr>
          <p:cNvSpPr txBox="1">
            <a:spLocks/>
          </p:cNvSpPr>
          <p:nvPr/>
        </p:nvSpPr>
        <p:spPr>
          <a:xfrm>
            <a:off x="838200" y="433553"/>
            <a:ext cx="10515600" cy="660076"/>
          </a:xfrm>
          <a:prstGeom prst="rect">
            <a:avLst/>
          </a:prstGeom>
        </p:spPr>
        <p:txBody>
          <a:bodyPr vert="horz" lIns="0" tIns="0" rIns="0" bIns="0" rtlCol="0" anchor="ctr">
            <a:noAutofit/>
          </a:bodyPr>
          <a:lstStyle>
            <a:lvl1pPr algn="l" defTabSz="914400" rtl="0" eaLnBrk="1" latinLnBrk="0" hangingPunct="1">
              <a:lnSpc>
                <a:spcPct val="80000"/>
              </a:lnSpc>
              <a:spcBef>
                <a:spcPct val="0"/>
              </a:spcBef>
              <a:buNone/>
              <a:defRPr sz="60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200">
                <a:latin typeface="Times New Roman"/>
                <a:cs typeface="Times New Roman"/>
              </a:rPr>
              <a:t>Introduction </a:t>
            </a:r>
          </a:p>
        </p:txBody>
      </p:sp>
      <p:sp>
        <p:nvSpPr>
          <p:cNvPr id="10" name="Rectangle: Rounded Corners 9">
            <a:extLst>
              <a:ext uri="{FF2B5EF4-FFF2-40B4-BE49-F238E27FC236}">
                <a16:creationId xmlns:a16="http://schemas.microsoft.com/office/drawing/2014/main" id="{25F6C553-D324-A386-7265-6C8BB5E0B7FE}"/>
              </a:ext>
            </a:extLst>
          </p:cNvPr>
          <p:cNvSpPr/>
          <p:nvPr/>
        </p:nvSpPr>
        <p:spPr>
          <a:xfrm>
            <a:off x="3912079" y="1522275"/>
            <a:ext cx="4379056" cy="775803"/>
          </a:xfrm>
          <a:prstGeom prst="roundRect">
            <a:avLst/>
          </a:prstGeom>
          <a:solidFill>
            <a:srgbClr val="B4F0B4"/>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500" b="1" dirty="0" err="1">
                <a:solidFill>
                  <a:schemeClr val="tx2">
                    <a:lumMod val="49000"/>
                  </a:schemeClr>
                </a:solidFill>
                <a:latin typeface="Times New Roman"/>
                <a:ea typeface="+mn-lt"/>
                <a:cs typeface="Times New Roman"/>
              </a:rPr>
              <a:t>AgroCare</a:t>
            </a:r>
            <a:r>
              <a:rPr lang="en-US" sz="2500" b="1" dirty="0">
                <a:solidFill>
                  <a:schemeClr val="tx2">
                    <a:lumMod val="49000"/>
                  </a:schemeClr>
                </a:solidFill>
                <a:latin typeface="Times New Roman"/>
                <a:ea typeface="+mn-lt"/>
                <a:cs typeface="Times New Roman"/>
              </a:rPr>
              <a:t> Project Overview</a:t>
            </a:r>
          </a:p>
        </p:txBody>
      </p:sp>
      <p:sp>
        <p:nvSpPr>
          <p:cNvPr id="2" name="Rectangle 1">
            <a:extLst>
              <a:ext uri="{FF2B5EF4-FFF2-40B4-BE49-F238E27FC236}">
                <a16:creationId xmlns:a16="http://schemas.microsoft.com/office/drawing/2014/main" id="{FFBA0B97-B2C1-C104-BDE0-BC9A387BA384}"/>
              </a:ext>
            </a:extLst>
          </p:cNvPr>
          <p:cNvSpPr/>
          <p:nvPr/>
        </p:nvSpPr>
        <p:spPr>
          <a:xfrm>
            <a:off x="423333" y="1913466"/>
            <a:ext cx="2489200" cy="42333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a:cs typeface="Times New Roman"/>
            </a:endParaRPr>
          </a:p>
        </p:txBody>
      </p:sp>
      <p:grpSp>
        <p:nvGrpSpPr>
          <p:cNvPr id="7" name="Group 6">
            <a:extLst>
              <a:ext uri="{FF2B5EF4-FFF2-40B4-BE49-F238E27FC236}">
                <a16:creationId xmlns:a16="http://schemas.microsoft.com/office/drawing/2014/main" id="{B9617B36-B33F-A373-EA15-F0EC901E8056}"/>
              </a:ext>
            </a:extLst>
          </p:cNvPr>
          <p:cNvGrpSpPr/>
          <p:nvPr/>
        </p:nvGrpSpPr>
        <p:grpSpPr>
          <a:xfrm>
            <a:off x="567906" y="2865565"/>
            <a:ext cx="11048137" cy="3299158"/>
            <a:chOff x="582283" y="2649905"/>
            <a:chExt cx="11048137" cy="3299158"/>
          </a:xfrm>
        </p:grpSpPr>
        <p:grpSp>
          <p:nvGrpSpPr>
            <p:cNvPr id="4" name="Group 3">
              <a:extLst>
                <a:ext uri="{FF2B5EF4-FFF2-40B4-BE49-F238E27FC236}">
                  <a16:creationId xmlns:a16="http://schemas.microsoft.com/office/drawing/2014/main" id="{512FABB4-0D9E-8184-0E10-DBEF5A7B70A7}"/>
                </a:ext>
              </a:extLst>
            </p:cNvPr>
            <p:cNvGrpSpPr/>
            <p:nvPr/>
          </p:nvGrpSpPr>
          <p:grpSpPr>
            <a:xfrm>
              <a:off x="582283" y="2669197"/>
              <a:ext cx="3269987" cy="3279866"/>
              <a:chOff x="582283" y="2669197"/>
              <a:chExt cx="3269987" cy="3279866"/>
            </a:xfrm>
          </p:grpSpPr>
          <p:sp>
            <p:nvSpPr>
              <p:cNvPr id="12" name="Rectangle: Rounded Corners 11">
                <a:extLst>
                  <a:ext uri="{FF2B5EF4-FFF2-40B4-BE49-F238E27FC236}">
                    <a16:creationId xmlns:a16="http://schemas.microsoft.com/office/drawing/2014/main" id="{AC6DC6BF-A091-A1EC-C672-D3B72656283B}"/>
                  </a:ext>
                </a:extLst>
              </p:cNvPr>
              <p:cNvSpPr/>
              <p:nvPr/>
            </p:nvSpPr>
            <p:spPr>
              <a:xfrm>
                <a:off x="582283" y="3033910"/>
                <a:ext cx="3269987" cy="2915153"/>
              </a:xfrm>
              <a:prstGeom prst="roundRect">
                <a:avLst/>
              </a:prstGeom>
              <a:solidFill>
                <a:srgbClr val="385B63"/>
              </a:solidFill>
              <a:ln>
                <a:solidFill>
                  <a:srgbClr val="334B4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sz="2000">
                  <a:latin typeface="Times New Roman"/>
                  <a:ea typeface="+mn-lt"/>
                  <a:cs typeface="Times New Roman"/>
                </a:endParaRPr>
              </a:p>
            </p:txBody>
          </p:sp>
          <p:grpSp>
            <p:nvGrpSpPr>
              <p:cNvPr id="21" name="Group 20">
                <a:extLst>
                  <a:ext uri="{FF2B5EF4-FFF2-40B4-BE49-F238E27FC236}">
                    <a16:creationId xmlns:a16="http://schemas.microsoft.com/office/drawing/2014/main" id="{0D3C0F2A-0C3F-CF9D-D6AB-E6D89DE0CD85}"/>
                  </a:ext>
                </a:extLst>
              </p:cNvPr>
              <p:cNvGrpSpPr/>
              <p:nvPr/>
            </p:nvGrpSpPr>
            <p:grpSpPr>
              <a:xfrm>
                <a:off x="1827202" y="2669197"/>
                <a:ext cx="778933" cy="767054"/>
                <a:chOff x="2085994" y="2376737"/>
                <a:chExt cx="778933" cy="767054"/>
              </a:xfrm>
            </p:grpSpPr>
            <p:sp>
              <p:nvSpPr>
                <p:cNvPr id="19" name="Rectangle: Rounded Corners 18">
                  <a:extLst>
                    <a:ext uri="{FF2B5EF4-FFF2-40B4-BE49-F238E27FC236}">
                      <a16:creationId xmlns:a16="http://schemas.microsoft.com/office/drawing/2014/main" id="{A2D0B237-B48A-BCD5-48DC-777E86538126}"/>
                    </a:ext>
                  </a:extLst>
                </p:cNvPr>
                <p:cNvSpPr/>
                <p:nvPr/>
              </p:nvSpPr>
              <p:spPr>
                <a:xfrm>
                  <a:off x="2085994" y="2376737"/>
                  <a:ext cx="778933" cy="767054"/>
                </a:xfrm>
                <a:prstGeom prst="roundRect">
                  <a:avLst/>
                </a:prstGeom>
                <a:solidFill>
                  <a:srgbClr val="B8CCC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a:cs typeface="Times New Roman"/>
                  </a:endParaRPr>
                </a:p>
              </p:txBody>
            </p:sp>
            <p:pic>
              <p:nvPicPr>
                <p:cNvPr id="18" name="Graphic 17" descr="Leaf with solid fill">
                  <a:extLst>
                    <a:ext uri="{FF2B5EF4-FFF2-40B4-BE49-F238E27FC236}">
                      <a16:creationId xmlns:a16="http://schemas.microsoft.com/office/drawing/2014/main" id="{6E9AE7CF-CDD7-595C-669C-CF84CF4B1DC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101969" y="2425460"/>
                  <a:ext cx="741872" cy="684363"/>
                </a:xfrm>
                <a:prstGeom prst="rect">
                  <a:avLst/>
                </a:prstGeom>
              </p:spPr>
            </p:pic>
          </p:grpSp>
          <p:sp>
            <p:nvSpPr>
              <p:cNvPr id="25" name="TextBox 24">
                <a:extLst>
                  <a:ext uri="{FF2B5EF4-FFF2-40B4-BE49-F238E27FC236}">
                    <a16:creationId xmlns:a16="http://schemas.microsoft.com/office/drawing/2014/main" id="{6CFE5482-8081-44E3-2AF8-E51CE2F46B91}"/>
                  </a:ext>
                </a:extLst>
              </p:cNvPr>
              <p:cNvSpPr txBox="1"/>
              <p:nvPr/>
            </p:nvSpPr>
            <p:spPr>
              <a:xfrm>
                <a:off x="736409" y="4493882"/>
                <a:ext cx="296317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latin typeface="Times New Roman"/>
                    <a:ea typeface="+mn-lt"/>
                    <a:cs typeface="Times New Roman"/>
                  </a:rPr>
                  <a:t>ML Algorithm</a:t>
                </a:r>
              </a:p>
              <a:p>
                <a:pPr marL="285750" indent="-285750">
                  <a:buFont typeface="Arial"/>
                  <a:buChar char="•"/>
                </a:pPr>
                <a:r>
                  <a:rPr lang="en-US">
                    <a:latin typeface="Times New Roman"/>
                    <a:ea typeface="+mn-lt"/>
                    <a:cs typeface="Times New Roman"/>
                  </a:rPr>
                  <a:t>Inputs: N, P, K, pH, Temp, Humidity, Rain</a:t>
                </a:r>
              </a:p>
              <a:p>
                <a:pPr marL="285750" indent="-285750">
                  <a:buFont typeface="Arial"/>
                  <a:buChar char="•"/>
                </a:pPr>
                <a:r>
                  <a:rPr lang="en-US">
                    <a:latin typeface="Times New Roman"/>
                    <a:ea typeface="Calibri"/>
                    <a:cs typeface="Times New Roman"/>
                  </a:rPr>
                  <a:t>Manual input</a:t>
                </a:r>
                <a:endParaRPr lang="en-US">
                  <a:latin typeface="Times New Roman"/>
                  <a:cs typeface="Times New Roman"/>
                </a:endParaRPr>
              </a:p>
            </p:txBody>
          </p:sp>
          <p:sp>
            <p:nvSpPr>
              <p:cNvPr id="26" name="TextBox 25">
                <a:extLst>
                  <a:ext uri="{FF2B5EF4-FFF2-40B4-BE49-F238E27FC236}">
                    <a16:creationId xmlns:a16="http://schemas.microsoft.com/office/drawing/2014/main" id="{9C0D0E4D-B406-3228-A669-A71A9477B5E6}"/>
                  </a:ext>
                </a:extLst>
              </p:cNvPr>
              <p:cNvSpPr txBox="1"/>
              <p:nvPr/>
            </p:nvSpPr>
            <p:spPr>
              <a:xfrm>
                <a:off x="662509" y="3614765"/>
                <a:ext cx="3106656" cy="769441"/>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2200" b="1">
                    <a:solidFill>
                      <a:schemeClr val="tx2">
                        <a:lumMod val="40000"/>
                        <a:lumOff val="60000"/>
                      </a:schemeClr>
                    </a:solidFill>
                    <a:latin typeface="Times New Roman"/>
                    <a:cs typeface="Times New Roman"/>
                  </a:rPr>
                  <a:t>CROP</a:t>
                </a:r>
              </a:p>
              <a:p>
                <a:pPr algn="ctr"/>
                <a:r>
                  <a:rPr lang="en-US" sz="2200" b="1">
                    <a:solidFill>
                      <a:schemeClr val="tx2">
                        <a:lumMod val="40000"/>
                        <a:lumOff val="60000"/>
                      </a:schemeClr>
                    </a:solidFill>
                    <a:latin typeface="Times New Roman"/>
                    <a:cs typeface="Times New Roman"/>
                  </a:rPr>
                  <a:t>RECOMMENDATION</a:t>
                </a:r>
              </a:p>
            </p:txBody>
          </p:sp>
        </p:grpSp>
        <p:grpSp>
          <p:nvGrpSpPr>
            <p:cNvPr id="6" name="Group 5">
              <a:extLst>
                <a:ext uri="{FF2B5EF4-FFF2-40B4-BE49-F238E27FC236}">
                  <a16:creationId xmlns:a16="http://schemas.microsoft.com/office/drawing/2014/main" id="{E618AF50-1C0A-8FC6-30BF-56B118CF21FA}"/>
                </a:ext>
              </a:extLst>
            </p:cNvPr>
            <p:cNvGrpSpPr/>
            <p:nvPr/>
          </p:nvGrpSpPr>
          <p:grpSpPr>
            <a:xfrm>
              <a:off x="8360433" y="2649906"/>
              <a:ext cx="3269987" cy="3299157"/>
              <a:chOff x="8360433" y="2649906"/>
              <a:chExt cx="3269987" cy="3299157"/>
            </a:xfrm>
          </p:grpSpPr>
          <p:sp>
            <p:nvSpPr>
              <p:cNvPr id="31" name="Rectangle: Rounded Corners 30">
                <a:extLst>
                  <a:ext uri="{FF2B5EF4-FFF2-40B4-BE49-F238E27FC236}">
                    <a16:creationId xmlns:a16="http://schemas.microsoft.com/office/drawing/2014/main" id="{60F6DAFA-AFE5-C2A8-AE11-77CA99BBC132}"/>
                  </a:ext>
                </a:extLst>
              </p:cNvPr>
              <p:cNvSpPr/>
              <p:nvPr/>
            </p:nvSpPr>
            <p:spPr>
              <a:xfrm>
                <a:off x="8360433" y="3033910"/>
                <a:ext cx="3269987" cy="2915153"/>
              </a:xfrm>
              <a:prstGeom prst="roundRect">
                <a:avLst/>
              </a:prstGeom>
              <a:solidFill>
                <a:srgbClr val="385B63"/>
              </a:solidFill>
              <a:ln>
                <a:solidFill>
                  <a:srgbClr val="334B4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sz="2000">
                  <a:latin typeface="Times New Roman"/>
                  <a:ea typeface="+mn-lt"/>
                  <a:cs typeface="Times New Roman"/>
                </a:endParaRPr>
              </a:p>
            </p:txBody>
          </p:sp>
          <p:sp>
            <p:nvSpPr>
              <p:cNvPr id="32" name="TextBox 31">
                <a:extLst>
                  <a:ext uri="{FF2B5EF4-FFF2-40B4-BE49-F238E27FC236}">
                    <a16:creationId xmlns:a16="http://schemas.microsoft.com/office/drawing/2014/main" id="{2B56B9B1-2CAD-DEFD-266A-330DE1BEAA57}"/>
                  </a:ext>
                </a:extLst>
              </p:cNvPr>
              <p:cNvSpPr txBox="1"/>
              <p:nvPr/>
            </p:nvSpPr>
            <p:spPr>
              <a:xfrm>
                <a:off x="8514561" y="4496374"/>
                <a:ext cx="296317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latin typeface="Times New Roman"/>
                    <a:ea typeface="Calibri"/>
                    <a:cs typeface="Times New Roman"/>
                  </a:rPr>
                  <a:t>Arduino Nano setup</a:t>
                </a:r>
                <a:endParaRPr lang="en-US">
                  <a:latin typeface="Times New Roman"/>
                  <a:ea typeface="+mn-lt"/>
                  <a:cs typeface="Times New Roman"/>
                </a:endParaRPr>
              </a:p>
              <a:p>
                <a:pPr marL="285750" indent="-285750">
                  <a:buFont typeface="Arial,Sans-Serif"/>
                  <a:buChar char="•"/>
                </a:pPr>
                <a:r>
                  <a:rPr lang="en-US">
                    <a:latin typeface="Times New Roman"/>
                    <a:ea typeface="Calibri"/>
                    <a:cs typeface="Times New Roman"/>
                  </a:rPr>
                  <a:t>Sensors</a:t>
                </a:r>
                <a:r>
                  <a:rPr lang="en-US">
                    <a:latin typeface="Times New Roman"/>
                    <a:ea typeface="+mn-lt"/>
                    <a:cs typeface="Times New Roman"/>
                  </a:rPr>
                  <a:t>: NPK, pH, Temperature, Moister</a:t>
                </a:r>
              </a:p>
              <a:p>
                <a:pPr marL="285750" indent="-285750">
                  <a:buFont typeface="Arial"/>
                  <a:buChar char="•"/>
                </a:pPr>
                <a:r>
                  <a:rPr lang="en-US">
                    <a:latin typeface="Times New Roman"/>
                    <a:ea typeface="Calibri"/>
                    <a:cs typeface="Times New Roman"/>
                  </a:rPr>
                  <a:t>Manual transfer</a:t>
                </a:r>
                <a:endParaRPr lang="en-US">
                  <a:latin typeface="Times New Roman"/>
                  <a:cs typeface="Times New Roman"/>
                </a:endParaRPr>
              </a:p>
            </p:txBody>
          </p:sp>
          <p:sp>
            <p:nvSpPr>
              <p:cNvPr id="33" name="TextBox 32">
                <a:extLst>
                  <a:ext uri="{FF2B5EF4-FFF2-40B4-BE49-F238E27FC236}">
                    <a16:creationId xmlns:a16="http://schemas.microsoft.com/office/drawing/2014/main" id="{11829A80-BCC3-F430-6554-21F7DB811477}"/>
                  </a:ext>
                </a:extLst>
              </p:cNvPr>
              <p:cNvSpPr txBox="1"/>
              <p:nvPr/>
            </p:nvSpPr>
            <p:spPr>
              <a:xfrm>
                <a:off x="8426282" y="3798419"/>
                <a:ext cx="3149790" cy="430887"/>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2200" b="1">
                    <a:solidFill>
                      <a:schemeClr val="tx2">
                        <a:lumMod val="40000"/>
                        <a:lumOff val="60000"/>
                      </a:schemeClr>
                    </a:solidFill>
                    <a:latin typeface="Times New Roman"/>
                    <a:cs typeface="Times New Roman"/>
                  </a:rPr>
                  <a:t>HARDWARE SYSTEM</a:t>
                </a:r>
              </a:p>
            </p:txBody>
          </p:sp>
          <p:sp>
            <p:nvSpPr>
              <p:cNvPr id="35" name="Rectangle: Rounded Corners 34">
                <a:extLst>
                  <a:ext uri="{FF2B5EF4-FFF2-40B4-BE49-F238E27FC236}">
                    <a16:creationId xmlns:a16="http://schemas.microsoft.com/office/drawing/2014/main" id="{121DF2D0-52C6-4D45-F7DF-8A4D488E822B}"/>
                  </a:ext>
                </a:extLst>
              </p:cNvPr>
              <p:cNvSpPr/>
              <p:nvPr/>
            </p:nvSpPr>
            <p:spPr>
              <a:xfrm>
                <a:off x="9605352" y="2649906"/>
                <a:ext cx="778933" cy="767054"/>
              </a:xfrm>
              <a:prstGeom prst="roundRect">
                <a:avLst/>
              </a:prstGeom>
              <a:solidFill>
                <a:srgbClr val="B8CCC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a:cs typeface="Times New Roman"/>
                </a:endParaRPr>
              </a:p>
            </p:txBody>
          </p:sp>
          <p:pic>
            <p:nvPicPr>
              <p:cNvPr id="62" name="Picture 61">
                <a:extLst>
                  <a:ext uri="{FF2B5EF4-FFF2-40B4-BE49-F238E27FC236}">
                    <a16:creationId xmlns:a16="http://schemas.microsoft.com/office/drawing/2014/main" id="{D232D865-7C23-DA65-6902-83CCFE9FD0FC}"/>
                  </a:ext>
                </a:extLst>
              </p:cNvPr>
              <p:cNvPicPr>
                <a:picLocks noChangeAspect="1"/>
              </p:cNvPicPr>
              <p:nvPr/>
            </p:nvPicPr>
            <p:blipFill>
              <a:blip r:embed="rId3"/>
              <a:stretch>
                <a:fillRect/>
              </a:stretch>
            </p:blipFill>
            <p:spPr>
              <a:xfrm>
                <a:off x="9654126" y="2702675"/>
                <a:ext cx="676275" cy="676275"/>
              </a:xfrm>
              <a:prstGeom prst="rect">
                <a:avLst/>
              </a:prstGeom>
            </p:spPr>
          </p:pic>
        </p:grpSp>
        <p:grpSp>
          <p:nvGrpSpPr>
            <p:cNvPr id="5" name="Group 4">
              <a:extLst>
                <a:ext uri="{FF2B5EF4-FFF2-40B4-BE49-F238E27FC236}">
                  <a16:creationId xmlns:a16="http://schemas.microsoft.com/office/drawing/2014/main" id="{B5F2A662-ECDD-3626-CC50-5BA0B1462FAD}"/>
                </a:ext>
              </a:extLst>
            </p:cNvPr>
            <p:cNvGrpSpPr/>
            <p:nvPr/>
          </p:nvGrpSpPr>
          <p:grpSpPr>
            <a:xfrm>
              <a:off x="4464169" y="2649905"/>
              <a:ext cx="3269987" cy="3299157"/>
              <a:chOff x="4464169" y="2649905"/>
              <a:chExt cx="3269987" cy="3299157"/>
            </a:xfrm>
          </p:grpSpPr>
          <p:sp>
            <p:nvSpPr>
              <p:cNvPr id="24" name="Rectangle: Rounded Corners 23">
                <a:extLst>
                  <a:ext uri="{FF2B5EF4-FFF2-40B4-BE49-F238E27FC236}">
                    <a16:creationId xmlns:a16="http://schemas.microsoft.com/office/drawing/2014/main" id="{7CFD9B50-521E-4038-7F48-8E85C5026A4E}"/>
                  </a:ext>
                </a:extLst>
              </p:cNvPr>
              <p:cNvSpPr/>
              <p:nvPr/>
            </p:nvSpPr>
            <p:spPr>
              <a:xfrm>
                <a:off x="4464169" y="3033909"/>
                <a:ext cx="3269987" cy="2915153"/>
              </a:xfrm>
              <a:prstGeom prst="roundRect">
                <a:avLst/>
              </a:prstGeom>
              <a:solidFill>
                <a:srgbClr val="385B63"/>
              </a:solidFill>
              <a:ln>
                <a:solidFill>
                  <a:srgbClr val="334B4F"/>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sz="2000">
                  <a:latin typeface="Times New Roman"/>
                  <a:ea typeface="+mn-lt"/>
                  <a:cs typeface="Times New Roman"/>
                </a:endParaRPr>
              </a:p>
            </p:txBody>
          </p:sp>
          <p:sp>
            <p:nvSpPr>
              <p:cNvPr id="28" name="Rectangle: Rounded Corners 27">
                <a:extLst>
                  <a:ext uri="{FF2B5EF4-FFF2-40B4-BE49-F238E27FC236}">
                    <a16:creationId xmlns:a16="http://schemas.microsoft.com/office/drawing/2014/main" id="{7865D96D-2D71-D44D-3E06-0C25ABC88F7D}"/>
                  </a:ext>
                </a:extLst>
              </p:cNvPr>
              <p:cNvSpPr/>
              <p:nvPr/>
            </p:nvSpPr>
            <p:spPr>
              <a:xfrm>
                <a:off x="5709088" y="2649905"/>
                <a:ext cx="778933" cy="767054"/>
              </a:xfrm>
              <a:prstGeom prst="roundRect">
                <a:avLst/>
              </a:prstGeom>
              <a:solidFill>
                <a:srgbClr val="B8CCC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a:cs typeface="Times New Roman"/>
                </a:endParaRPr>
              </a:p>
            </p:txBody>
          </p:sp>
          <p:sp>
            <p:nvSpPr>
              <p:cNvPr id="15" name="TextBox 14">
                <a:extLst>
                  <a:ext uri="{FF2B5EF4-FFF2-40B4-BE49-F238E27FC236}">
                    <a16:creationId xmlns:a16="http://schemas.microsoft.com/office/drawing/2014/main" id="{4ED0D0FD-DCB2-712C-7E6E-E613CD68B114}"/>
                  </a:ext>
                </a:extLst>
              </p:cNvPr>
              <p:cNvSpPr txBox="1"/>
              <p:nvPr/>
            </p:nvSpPr>
            <p:spPr>
              <a:xfrm>
                <a:off x="4618297" y="4220443"/>
                <a:ext cx="2963174"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latin typeface="Times New Roman"/>
                    <a:ea typeface="+mn-lt"/>
                    <a:cs typeface="Times New Roman"/>
                  </a:rPr>
                  <a:t>Gemini API integrated</a:t>
                </a:r>
                <a:endParaRPr lang="en-US" dirty="0">
                  <a:latin typeface="Times New Roman"/>
                  <a:ea typeface="+mn-lt"/>
                  <a:cs typeface="Times New Roman"/>
                </a:endParaRPr>
              </a:p>
              <a:p>
                <a:pPr marL="285750" indent="-285750">
                  <a:buFont typeface="Arial"/>
                  <a:buChar char="•"/>
                </a:pPr>
                <a:r>
                  <a:rPr lang="en-US" dirty="0">
                    <a:latin typeface="Times New Roman"/>
                    <a:ea typeface="+mn-lt"/>
                    <a:cs typeface="Times New Roman"/>
                  </a:rPr>
                  <a:t>Able to answer any user query regarding plant disease detection and crop recommendation</a:t>
                </a:r>
              </a:p>
            </p:txBody>
          </p:sp>
          <p:sp>
            <p:nvSpPr>
              <p:cNvPr id="16" name="TextBox 15">
                <a:extLst>
                  <a:ext uri="{FF2B5EF4-FFF2-40B4-BE49-F238E27FC236}">
                    <a16:creationId xmlns:a16="http://schemas.microsoft.com/office/drawing/2014/main" id="{513D615B-459D-F767-97EE-5F55CB5F8132}"/>
                  </a:ext>
                </a:extLst>
              </p:cNvPr>
              <p:cNvSpPr txBox="1"/>
              <p:nvPr/>
            </p:nvSpPr>
            <p:spPr>
              <a:xfrm>
                <a:off x="4534192" y="3792775"/>
                <a:ext cx="3149790" cy="430887"/>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2200" b="1">
                    <a:solidFill>
                      <a:schemeClr val="tx2">
                        <a:lumMod val="40000"/>
                        <a:lumOff val="60000"/>
                      </a:schemeClr>
                    </a:solidFill>
                    <a:latin typeface="Times New Roman"/>
                    <a:cs typeface="Times New Roman"/>
                  </a:rPr>
                  <a:t>CHATBOT</a:t>
                </a:r>
              </a:p>
            </p:txBody>
          </p:sp>
          <p:pic>
            <p:nvPicPr>
              <p:cNvPr id="3" name="Picture 2">
                <a:extLst>
                  <a:ext uri="{FF2B5EF4-FFF2-40B4-BE49-F238E27FC236}">
                    <a16:creationId xmlns:a16="http://schemas.microsoft.com/office/drawing/2014/main" id="{AD513B31-C545-A7F0-FE6C-20B7E3941EA5}"/>
                  </a:ext>
                </a:extLst>
              </p:cNvPr>
              <p:cNvPicPr>
                <a:picLocks noChangeAspect="1"/>
              </p:cNvPicPr>
              <p:nvPr/>
            </p:nvPicPr>
            <p:blipFill>
              <a:blip r:embed="rId4"/>
              <a:stretch>
                <a:fillRect/>
              </a:stretch>
            </p:blipFill>
            <p:spPr>
              <a:xfrm>
                <a:off x="5756693" y="2687128"/>
                <a:ext cx="682954" cy="692991"/>
              </a:xfrm>
              <a:prstGeom prst="rect">
                <a:avLst/>
              </a:prstGeom>
              <a:ln>
                <a:noFill/>
              </a:ln>
            </p:spPr>
          </p:pic>
        </p:grpSp>
      </p:grpSp>
    </p:spTree>
    <p:extLst>
      <p:ext uri="{BB962C8B-B14F-4D97-AF65-F5344CB8AC3E}">
        <p14:creationId xmlns:p14="http://schemas.microsoft.com/office/powerpoint/2010/main" val="16299725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9845B-F077-1C6E-F5B3-7CFE7F7DA75F}"/>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DDFBF4CD-C02D-AE8D-A1D5-B758D9AB49BF}"/>
              </a:ext>
            </a:extLst>
          </p:cNvPr>
          <p:cNvSpPr txBox="1">
            <a:spLocks/>
          </p:cNvSpPr>
          <p:nvPr/>
        </p:nvSpPr>
        <p:spPr>
          <a:xfrm>
            <a:off x="780691" y="165504"/>
            <a:ext cx="10616241" cy="717585"/>
          </a:xfrm>
          <a:prstGeom prst="rect">
            <a:avLst/>
          </a:prstGeom>
        </p:spPr>
        <p:txBody>
          <a:bodyPr vert="horz" lIns="0" tIns="0" rIns="0" bIns="0" rtlCol="0" anchor="b">
            <a:noAutofit/>
          </a:bodyPr>
          <a:lstStyle>
            <a:lvl1pPr algn="l" defTabSz="914400" rtl="0" eaLnBrk="1" latinLnBrk="0" hangingPunct="1">
              <a:lnSpc>
                <a:spcPct val="80000"/>
              </a:lnSpc>
              <a:spcBef>
                <a:spcPct val="0"/>
              </a:spcBef>
              <a:buNone/>
              <a:defRPr sz="60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200">
                <a:latin typeface="Times New Roman"/>
                <a:cs typeface="Times New Roman"/>
              </a:rPr>
              <a:t>Workflow</a:t>
            </a:r>
          </a:p>
        </p:txBody>
      </p:sp>
      <p:pic>
        <p:nvPicPr>
          <p:cNvPr id="4" name="Picture 3" descr="A diagram of a circuit board&#10;&#10;AI-generated content may be incorrect.">
            <a:extLst>
              <a:ext uri="{FF2B5EF4-FFF2-40B4-BE49-F238E27FC236}">
                <a16:creationId xmlns:a16="http://schemas.microsoft.com/office/drawing/2014/main" id="{E51D5E0E-1423-ABF6-FF14-0B536D3E1ADE}"/>
              </a:ext>
            </a:extLst>
          </p:cNvPr>
          <p:cNvPicPr>
            <a:picLocks noChangeAspect="1"/>
          </p:cNvPicPr>
          <p:nvPr/>
        </p:nvPicPr>
        <p:blipFill>
          <a:blip r:embed="rId2"/>
          <a:stretch>
            <a:fillRect/>
          </a:stretch>
        </p:blipFill>
        <p:spPr>
          <a:xfrm>
            <a:off x="764218" y="867833"/>
            <a:ext cx="10649185" cy="5990166"/>
          </a:xfrm>
          <a:prstGeom prst="rect">
            <a:avLst/>
          </a:prstGeom>
        </p:spPr>
      </p:pic>
    </p:spTree>
    <p:extLst>
      <p:ext uri="{BB962C8B-B14F-4D97-AF65-F5344CB8AC3E}">
        <p14:creationId xmlns:p14="http://schemas.microsoft.com/office/powerpoint/2010/main" val="3658014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9DF4E9F-D3F9-D5FF-5CB4-8E36D7993496}"/>
              </a:ext>
            </a:extLst>
          </p:cNvPr>
          <p:cNvPicPr>
            <a:picLocks noChangeAspect="1"/>
          </p:cNvPicPr>
          <p:nvPr/>
        </p:nvPicPr>
        <p:blipFill>
          <a:blip r:embed="rId2">
            <a:extLst>
              <a:ext uri="{28A0092B-C50C-407E-A947-70E740481C1C}">
                <a14:useLocalDpi xmlns:a14="http://schemas.microsoft.com/office/drawing/2010/main" val="0"/>
              </a:ext>
            </a:extLst>
          </a:blip>
          <a:srcRect l="4367" t="3784" r="696" b="5012"/>
          <a:stretch>
            <a:fillRect/>
          </a:stretch>
        </p:blipFill>
        <p:spPr>
          <a:xfrm>
            <a:off x="459880" y="889497"/>
            <a:ext cx="11286618" cy="5965633"/>
          </a:xfrm>
          <a:prstGeom prst="rect">
            <a:avLst/>
          </a:prstGeom>
        </p:spPr>
      </p:pic>
      <p:sp>
        <p:nvSpPr>
          <p:cNvPr id="10" name="TextBox 9">
            <a:extLst>
              <a:ext uri="{FF2B5EF4-FFF2-40B4-BE49-F238E27FC236}">
                <a16:creationId xmlns:a16="http://schemas.microsoft.com/office/drawing/2014/main" id="{21AF16F8-AD3C-3A8D-E514-2E3C22298B31}"/>
              </a:ext>
            </a:extLst>
          </p:cNvPr>
          <p:cNvSpPr txBox="1"/>
          <p:nvPr/>
        </p:nvSpPr>
        <p:spPr>
          <a:xfrm>
            <a:off x="892355" y="151881"/>
            <a:ext cx="10401300" cy="609398"/>
          </a:xfrm>
          <a:prstGeom prst="rect">
            <a:avLst/>
          </a:prstGeom>
          <a:noFill/>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algn="ctr">
              <a:lnSpc>
                <a:spcPct val="80000"/>
              </a:lnSpc>
              <a:spcBef>
                <a:spcPct val="0"/>
              </a:spcBef>
            </a:pPr>
            <a:r>
              <a:rPr lang="en-US" sz="4200" b="1" spc="100" dirty="0" err="1">
                <a:solidFill>
                  <a:schemeClr val="bg1"/>
                </a:solidFill>
                <a:latin typeface="Times New Roman"/>
                <a:ea typeface="+mj-ea"/>
                <a:cs typeface="Times New Roman"/>
              </a:rPr>
              <a:t>OpenWeatherMap</a:t>
            </a:r>
            <a:r>
              <a:rPr lang="en-US" sz="4200" b="1" spc="100" dirty="0">
                <a:solidFill>
                  <a:schemeClr val="bg1"/>
                </a:solidFill>
                <a:latin typeface="Times New Roman"/>
                <a:ea typeface="+mj-ea"/>
                <a:cs typeface="Times New Roman"/>
              </a:rPr>
              <a:t> API Integration</a:t>
            </a:r>
          </a:p>
        </p:txBody>
      </p:sp>
    </p:spTree>
    <p:extLst>
      <p:ext uri="{BB962C8B-B14F-4D97-AF65-F5344CB8AC3E}">
        <p14:creationId xmlns:p14="http://schemas.microsoft.com/office/powerpoint/2010/main" val="1053972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software development process&#10;&#10;AI-generated content may be incorrect.">
            <a:extLst>
              <a:ext uri="{FF2B5EF4-FFF2-40B4-BE49-F238E27FC236}">
                <a16:creationId xmlns:a16="http://schemas.microsoft.com/office/drawing/2014/main" id="{B7610600-AF28-2B78-5308-EE09C979E8DD}"/>
              </a:ext>
            </a:extLst>
          </p:cNvPr>
          <p:cNvPicPr>
            <a:picLocks noChangeAspect="1"/>
          </p:cNvPicPr>
          <p:nvPr/>
        </p:nvPicPr>
        <p:blipFill>
          <a:blip r:embed="rId2"/>
          <a:stretch>
            <a:fillRect/>
          </a:stretch>
        </p:blipFill>
        <p:spPr>
          <a:xfrm>
            <a:off x="689650" y="857021"/>
            <a:ext cx="10807832" cy="5999875"/>
          </a:xfrm>
          <a:prstGeom prst="rect">
            <a:avLst/>
          </a:prstGeom>
        </p:spPr>
      </p:pic>
      <p:sp>
        <p:nvSpPr>
          <p:cNvPr id="6" name="Title 1">
            <a:extLst>
              <a:ext uri="{FF2B5EF4-FFF2-40B4-BE49-F238E27FC236}">
                <a16:creationId xmlns:a16="http://schemas.microsoft.com/office/drawing/2014/main" id="{9D07AE88-E824-AFCA-19D5-FD4D2F88065D}"/>
              </a:ext>
            </a:extLst>
          </p:cNvPr>
          <p:cNvSpPr txBox="1">
            <a:spLocks/>
          </p:cNvSpPr>
          <p:nvPr/>
        </p:nvSpPr>
        <p:spPr>
          <a:xfrm>
            <a:off x="780691" y="151127"/>
            <a:ext cx="10616241" cy="717585"/>
          </a:xfrm>
          <a:prstGeom prst="rect">
            <a:avLst/>
          </a:prstGeom>
        </p:spPr>
        <p:txBody>
          <a:bodyPr vert="horz" lIns="0" tIns="0" rIns="0" bIns="0" rtlCol="0" anchor="b">
            <a:noAutofit/>
          </a:bodyPr>
          <a:lstStyle>
            <a:lvl1pPr algn="l" defTabSz="914400" rtl="0" eaLnBrk="1" latinLnBrk="0" hangingPunct="1">
              <a:lnSpc>
                <a:spcPct val="80000"/>
              </a:lnSpc>
              <a:spcBef>
                <a:spcPct val="0"/>
              </a:spcBef>
              <a:buNone/>
              <a:defRPr sz="60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200">
                <a:latin typeface="Times New Roman"/>
                <a:cs typeface="Times New Roman"/>
              </a:rPr>
              <a:t>Chatbot Workflow</a:t>
            </a:r>
          </a:p>
        </p:txBody>
      </p:sp>
    </p:spTree>
    <p:extLst>
      <p:ext uri="{BB962C8B-B14F-4D97-AF65-F5344CB8AC3E}">
        <p14:creationId xmlns:p14="http://schemas.microsoft.com/office/powerpoint/2010/main" val="3129426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078C640-36F3-D696-F52E-13410C7506DC}"/>
              </a:ext>
            </a:extLst>
          </p:cNvPr>
          <p:cNvSpPr/>
          <p:nvPr/>
        </p:nvSpPr>
        <p:spPr>
          <a:xfrm>
            <a:off x="3640667" y="6214533"/>
            <a:ext cx="2218266" cy="254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a:cs typeface="Times New Roman"/>
            </a:endParaRPr>
          </a:p>
        </p:txBody>
      </p:sp>
      <p:pic>
        <p:nvPicPr>
          <p:cNvPr id="3" name="Picture 2">
            <a:extLst>
              <a:ext uri="{FF2B5EF4-FFF2-40B4-BE49-F238E27FC236}">
                <a16:creationId xmlns:a16="http://schemas.microsoft.com/office/drawing/2014/main" id="{6F9CDF13-36FB-D312-0B4B-B0CC715DF8D6}"/>
              </a:ext>
              <a:ext uri="{C183D7F6-B498-43B3-948B-1728B52AA6E4}">
                <adec:decorative xmlns:adec="http://schemas.microsoft.com/office/drawing/2017/decorative" val="1"/>
              </a:ext>
            </a:extLst>
          </p:cNvPr>
          <p:cNvPicPr>
            <a:picLocks noChangeAspect="1"/>
          </p:cNvPicPr>
          <p:nvPr/>
        </p:nvPicPr>
        <p:blipFill>
          <a:blip r:embed="rId2"/>
          <a:srcRect t="15591" r="146" b="17383"/>
          <a:stretch>
            <a:fillRect/>
          </a:stretch>
        </p:blipFill>
        <p:spPr>
          <a:xfrm>
            <a:off x="-910" y="444641"/>
            <a:ext cx="11597446" cy="6391808"/>
          </a:xfrm>
          <a:prstGeom prst="rect">
            <a:avLst/>
          </a:prstGeom>
        </p:spPr>
      </p:pic>
      <p:sp>
        <p:nvSpPr>
          <p:cNvPr id="6" name="Title 1">
            <a:extLst>
              <a:ext uri="{FF2B5EF4-FFF2-40B4-BE49-F238E27FC236}">
                <a16:creationId xmlns:a16="http://schemas.microsoft.com/office/drawing/2014/main" id="{D4B33268-88F8-8239-F614-5C212BC2A666}"/>
              </a:ext>
            </a:extLst>
          </p:cNvPr>
          <p:cNvSpPr txBox="1">
            <a:spLocks/>
          </p:cNvSpPr>
          <p:nvPr/>
        </p:nvSpPr>
        <p:spPr>
          <a:xfrm>
            <a:off x="524962" y="108531"/>
            <a:ext cx="10544354" cy="688831"/>
          </a:xfrm>
          <a:prstGeom prst="rect">
            <a:avLst/>
          </a:prstGeom>
        </p:spPr>
        <p:txBody>
          <a:bodyPr vert="horz" lIns="0" tIns="0" rIns="0" bIns="0" rtlCol="0" anchor="b">
            <a:noAutofit/>
          </a:bodyPr>
          <a:lstStyle>
            <a:lvl1pPr algn="l" defTabSz="914400" rtl="0" eaLnBrk="1" latinLnBrk="0" hangingPunct="1">
              <a:lnSpc>
                <a:spcPct val="80000"/>
              </a:lnSpc>
              <a:spcBef>
                <a:spcPct val="0"/>
              </a:spcBef>
              <a:buNone/>
              <a:defRPr sz="60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200">
                <a:latin typeface="Times New Roman"/>
                <a:cs typeface="Times New Roman"/>
              </a:rPr>
              <a:t>PCB Design</a:t>
            </a:r>
          </a:p>
        </p:txBody>
      </p:sp>
      <p:sp>
        <p:nvSpPr>
          <p:cNvPr id="2" name="TextBox 1">
            <a:extLst>
              <a:ext uri="{FF2B5EF4-FFF2-40B4-BE49-F238E27FC236}">
                <a16:creationId xmlns:a16="http://schemas.microsoft.com/office/drawing/2014/main" id="{4EAEA039-DCC7-B479-0192-61B8134C18EB}"/>
              </a:ext>
            </a:extLst>
          </p:cNvPr>
          <p:cNvSpPr txBox="1"/>
          <p:nvPr/>
        </p:nvSpPr>
        <p:spPr>
          <a:xfrm>
            <a:off x="8707965" y="6175415"/>
            <a:ext cx="1486524" cy="323165"/>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500">
                <a:solidFill>
                  <a:schemeClr val="bg1"/>
                </a:solidFill>
                <a:latin typeface="Times New Roman"/>
                <a:cs typeface="Times New Roman"/>
              </a:rPr>
              <a:t>PCB Board</a:t>
            </a:r>
          </a:p>
        </p:txBody>
      </p:sp>
      <p:sp>
        <p:nvSpPr>
          <p:cNvPr id="4" name="TextBox 3">
            <a:extLst>
              <a:ext uri="{FF2B5EF4-FFF2-40B4-BE49-F238E27FC236}">
                <a16:creationId xmlns:a16="http://schemas.microsoft.com/office/drawing/2014/main" id="{612EF00D-DF69-C5E7-6D98-5ABFF25A9FAD}"/>
              </a:ext>
            </a:extLst>
          </p:cNvPr>
          <p:cNvSpPr txBox="1"/>
          <p:nvPr/>
        </p:nvSpPr>
        <p:spPr>
          <a:xfrm>
            <a:off x="2261016" y="3624341"/>
            <a:ext cx="674558" cy="307777"/>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400">
                <a:solidFill>
                  <a:schemeClr val="bg1"/>
                </a:solidFill>
                <a:latin typeface="Times New Roman"/>
                <a:cs typeface="Times New Roman"/>
              </a:rPr>
              <a:t>Front</a:t>
            </a:r>
          </a:p>
        </p:txBody>
      </p:sp>
      <p:sp>
        <p:nvSpPr>
          <p:cNvPr id="5" name="TextBox 4">
            <a:extLst>
              <a:ext uri="{FF2B5EF4-FFF2-40B4-BE49-F238E27FC236}">
                <a16:creationId xmlns:a16="http://schemas.microsoft.com/office/drawing/2014/main" id="{24CEB3BC-2931-4B50-9D4E-ACACE4E5C1B7}"/>
              </a:ext>
            </a:extLst>
          </p:cNvPr>
          <p:cNvSpPr txBox="1"/>
          <p:nvPr/>
        </p:nvSpPr>
        <p:spPr>
          <a:xfrm>
            <a:off x="2261015" y="6453644"/>
            <a:ext cx="674558" cy="307777"/>
          </a:xfrm>
          <a:prstGeom prst="rect">
            <a:avLst/>
          </a:prstGeom>
          <a:noFill/>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algn="ctr"/>
            <a:r>
              <a:rPr lang="en-US" sz="1400">
                <a:solidFill>
                  <a:schemeClr val="bg1"/>
                </a:solidFill>
                <a:latin typeface="Times New Roman"/>
                <a:cs typeface="Times New Roman"/>
              </a:rPr>
              <a:t>Back</a:t>
            </a:r>
          </a:p>
        </p:txBody>
      </p:sp>
    </p:spTree>
    <p:extLst>
      <p:ext uri="{BB962C8B-B14F-4D97-AF65-F5344CB8AC3E}">
        <p14:creationId xmlns:p14="http://schemas.microsoft.com/office/powerpoint/2010/main" val="631655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of a circuit board&#10;&#10;AI-generated content may be incorrect.">
            <a:extLst>
              <a:ext uri="{FF2B5EF4-FFF2-40B4-BE49-F238E27FC236}">
                <a16:creationId xmlns:a16="http://schemas.microsoft.com/office/drawing/2014/main" id="{D0DB18C8-C9B7-3774-8042-B96729169EEF}"/>
              </a:ext>
            </a:extLst>
          </p:cNvPr>
          <p:cNvPicPr>
            <a:picLocks noChangeAspect="1"/>
          </p:cNvPicPr>
          <p:nvPr/>
        </p:nvPicPr>
        <p:blipFill>
          <a:blip r:embed="rId2"/>
          <a:stretch>
            <a:fillRect/>
          </a:stretch>
        </p:blipFill>
        <p:spPr>
          <a:xfrm>
            <a:off x="3763080" y="157688"/>
            <a:ext cx="8227018" cy="6685935"/>
          </a:xfrm>
          <a:prstGeom prst="rect">
            <a:avLst/>
          </a:prstGeom>
        </p:spPr>
      </p:pic>
      <p:pic>
        <p:nvPicPr>
          <p:cNvPr id="4" name="Picture 3" descr="A diagram of a circuit&#10;&#10;AI-generated content may be incorrect.">
            <a:extLst>
              <a:ext uri="{FF2B5EF4-FFF2-40B4-BE49-F238E27FC236}">
                <a16:creationId xmlns:a16="http://schemas.microsoft.com/office/drawing/2014/main" id="{AF1E0CBD-F402-BBDD-744F-856456F1C487}"/>
              </a:ext>
            </a:extLst>
          </p:cNvPr>
          <p:cNvPicPr>
            <a:picLocks noChangeAspect="1"/>
          </p:cNvPicPr>
          <p:nvPr/>
        </p:nvPicPr>
        <p:blipFill>
          <a:blip r:embed="rId3"/>
          <a:stretch>
            <a:fillRect/>
          </a:stretch>
        </p:blipFill>
        <p:spPr>
          <a:xfrm rot="5400000">
            <a:off x="-1297982" y="1776168"/>
            <a:ext cx="6562725" cy="3571875"/>
          </a:xfrm>
          <a:prstGeom prst="rect">
            <a:avLst/>
          </a:prstGeom>
        </p:spPr>
      </p:pic>
      <p:sp>
        <p:nvSpPr>
          <p:cNvPr id="3" name="TextBox 2">
            <a:extLst>
              <a:ext uri="{FF2B5EF4-FFF2-40B4-BE49-F238E27FC236}">
                <a16:creationId xmlns:a16="http://schemas.microsoft.com/office/drawing/2014/main" id="{A222C195-3490-8237-234D-E5D9F1FFEAA2}"/>
              </a:ext>
            </a:extLst>
          </p:cNvPr>
          <p:cNvSpPr txBox="1"/>
          <p:nvPr/>
        </p:nvSpPr>
        <p:spPr>
          <a:xfrm>
            <a:off x="662992" y="6432466"/>
            <a:ext cx="264720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solidFill>
                  <a:schemeClr val="bg1"/>
                </a:solidFill>
                <a:latin typeface="Times New Roman"/>
                <a:cs typeface="Times New Roman"/>
              </a:rPr>
              <a:t>Power Supply Diagram</a:t>
            </a:r>
            <a:endParaRPr lang="en-US">
              <a:latin typeface="Times New Roman"/>
              <a:cs typeface="Times New Roman"/>
            </a:endParaRPr>
          </a:p>
        </p:txBody>
      </p:sp>
      <p:sp>
        <p:nvSpPr>
          <p:cNvPr id="5" name="TextBox 4">
            <a:extLst>
              <a:ext uri="{FF2B5EF4-FFF2-40B4-BE49-F238E27FC236}">
                <a16:creationId xmlns:a16="http://schemas.microsoft.com/office/drawing/2014/main" id="{4D0E0A38-09FE-8913-F64E-FB0A0C28AE24}"/>
              </a:ext>
            </a:extLst>
          </p:cNvPr>
          <p:cNvSpPr txBox="1"/>
          <p:nvPr/>
        </p:nvSpPr>
        <p:spPr>
          <a:xfrm>
            <a:off x="7592645" y="6461220"/>
            <a:ext cx="264720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solidFill>
                  <a:schemeClr val="bg1"/>
                </a:solidFill>
                <a:latin typeface="Times New Roman"/>
                <a:cs typeface="Times New Roman"/>
              </a:rPr>
              <a:t>Circuit Diagram</a:t>
            </a:r>
            <a:endParaRPr lang="en-US">
              <a:latin typeface="Times New Roman"/>
              <a:cs typeface="Times New Roman"/>
            </a:endParaRPr>
          </a:p>
        </p:txBody>
      </p:sp>
      <p:sp>
        <p:nvSpPr>
          <p:cNvPr id="6" name="TextBox 5">
            <a:extLst>
              <a:ext uri="{FF2B5EF4-FFF2-40B4-BE49-F238E27FC236}">
                <a16:creationId xmlns:a16="http://schemas.microsoft.com/office/drawing/2014/main" id="{E02FA717-D91D-8FDA-5191-C92DCC16A7FC}"/>
              </a:ext>
            </a:extLst>
          </p:cNvPr>
          <p:cNvSpPr txBox="1"/>
          <p:nvPr/>
        </p:nvSpPr>
        <p:spPr>
          <a:xfrm>
            <a:off x="3024579" y="86743"/>
            <a:ext cx="6134100" cy="609398"/>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lnSpc>
                <a:spcPct val="80000"/>
              </a:lnSpc>
              <a:spcBef>
                <a:spcPct val="0"/>
              </a:spcBef>
            </a:pPr>
            <a:r>
              <a:rPr lang="en-US" sz="4200" b="1" spc="100">
                <a:solidFill>
                  <a:schemeClr val="bg1"/>
                </a:solidFill>
                <a:latin typeface="Times New Roman"/>
                <a:ea typeface="+mj-ea"/>
                <a:cs typeface="Times New Roman"/>
              </a:rPr>
              <a:t>Circuit Diagram</a:t>
            </a:r>
          </a:p>
        </p:txBody>
      </p:sp>
    </p:spTree>
    <p:extLst>
      <p:ext uri="{BB962C8B-B14F-4D97-AF65-F5344CB8AC3E}">
        <p14:creationId xmlns:p14="http://schemas.microsoft.com/office/powerpoint/2010/main" val="14042636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8EBB78E-7B2B-2589-345B-2FB5B2F0BDB3}"/>
              </a:ext>
            </a:extLst>
          </p:cNvPr>
          <p:cNvSpPr txBox="1">
            <a:spLocks/>
          </p:cNvSpPr>
          <p:nvPr/>
        </p:nvSpPr>
        <p:spPr>
          <a:xfrm>
            <a:off x="838200" y="203516"/>
            <a:ext cx="10515600" cy="703208"/>
          </a:xfrm>
          <a:prstGeom prst="rect">
            <a:avLst/>
          </a:prstGeom>
        </p:spPr>
        <p:txBody>
          <a:bodyPr vert="horz" lIns="0" tIns="0" rIns="0" bIns="0" rtlCol="0" anchor="ctr">
            <a:noAutofit/>
          </a:bodyPr>
          <a:lstStyle>
            <a:lvl1pPr algn="l" defTabSz="914400" rtl="0" eaLnBrk="1" latinLnBrk="0" hangingPunct="1">
              <a:lnSpc>
                <a:spcPct val="80000"/>
              </a:lnSpc>
              <a:spcBef>
                <a:spcPct val="0"/>
              </a:spcBef>
              <a:buNone/>
              <a:defRPr sz="60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200">
                <a:latin typeface="Times New Roman"/>
                <a:cs typeface="Times New Roman"/>
              </a:rPr>
              <a:t>Hardware Integration</a:t>
            </a:r>
          </a:p>
        </p:txBody>
      </p:sp>
      <p:pic>
        <p:nvPicPr>
          <p:cNvPr id="8" name="Picture 7" descr="A diagram of a circuit board&#10;&#10;AI-generated content may be incorrect.">
            <a:extLst>
              <a:ext uri="{FF2B5EF4-FFF2-40B4-BE49-F238E27FC236}">
                <a16:creationId xmlns:a16="http://schemas.microsoft.com/office/drawing/2014/main" id="{1D749671-4A3E-6526-EEBB-A72FB6E4FBD6}"/>
              </a:ext>
            </a:extLst>
          </p:cNvPr>
          <p:cNvPicPr>
            <a:picLocks noChangeAspect="1"/>
          </p:cNvPicPr>
          <p:nvPr/>
        </p:nvPicPr>
        <p:blipFill>
          <a:blip r:embed="rId2"/>
          <a:stretch>
            <a:fillRect/>
          </a:stretch>
        </p:blipFill>
        <p:spPr>
          <a:xfrm>
            <a:off x="272577" y="964232"/>
            <a:ext cx="3643265" cy="3227875"/>
          </a:xfrm>
          <a:prstGeom prst="rect">
            <a:avLst/>
          </a:prstGeom>
          <a:ln>
            <a:noFill/>
          </a:ln>
        </p:spPr>
      </p:pic>
      <p:pic>
        <p:nvPicPr>
          <p:cNvPr id="10" name="Picture 9" descr="A close-up of a device&#10;&#10;AI-generated content may be incorrect.">
            <a:extLst>
              <a:ext uri="{FF2B5EF4-FFF2-40B4-BE49-F238E27FC236}">
                <a16:creationId xmlns:a16="http://schemas.microsoft.com/office/drawing/2014/main" id="{35EA3C24-7E29-8398-F090-FFD7DC163FC1}"/>
              </a:ext>
            </a:extLst>
          </p:cNvPr>
          <p:cNvPicPr>
            <a:picLocks noChangeAspect="1"/>
          </p:cNvPicPr>
          <p:nvPr/>
        </p:nvPicPr>
        <p:blipFill>
          <a:blip r:embed="rId3"/>
          <a:srcRect t="12112" b="8406"/>
          <a:stretch>
            <a:fillRect/>
          </a:stretch>
        </p:blipFill>
        <p:spPr>
          <a:xfrm>
            <a:off x="4496587" y="1259839"/>
            <a:ext cx="3563857" cy="2939589"/>
          </a:xfrm>
          <a:prstGeom prst="rect">
            <a:avLst/>
          </a:prstGeom>
          <a:ln>
            <a:noFill/>
          </a:ln>
        </p:spPr>
      </p:pic>
      <p:pic>
        <p:nvPicPr>
          <p:cNvPr id="12" name="Picture 11" descr="A black wire with a silver tip&#10;&#10;AI-generated content may be incorrect.">
            <a:extLst>
              <a:ext uri="{FF2B5EF4-FFF2-40B4-BE49-F238E27FC236}">
                <a16:creationId xmlns:a16="http://schemas.microsoft.com/office/drawing/2014/main" id="{D879B249-974F-2E87-7DA7-9DF349F03634}"/>
              </a:ext>
            </a:extLst>
          </p:cNvPr>
          <p:cNvPicPr>
            <a:picLocks noChangeAspect="1"/>
          </p:cNvPicPr>
          <p:nvPr/>
        </p:nvPicPr>
        <p:blipFill>
          <a:blip r:embed="rId4"/>
          <a:stretch>
            <a:fillRect/>
          </a:stretch>
        </p:blipFill>
        <p:spPr>
          <a:xfrm>
            <a:off x="8376187" y="964232"/>
            <a:ext cx="3595930" cy="3235196"/>
          </a:xfrm>
          <a:prstGeom prst="rect">
            <a:avLst/>
          </a:prstGeom>
          <a:ln>
            <a:noFill/>
          </a:ln>
        </p:spPr>
      </p:pic>
      <p:grpSp>
        <p:nvGrpSpPr>
          <p:cNvPr id="16" name="Group 15">
            <a:extLst>
              <a:ext uri="{FF2B5EF4-FFF2-40B4-BE49-F238E27FC236}">
                <a16:creationId xmlns:a16="http://schemas.microsoft.com/office/drawing/2014/main" id="{88342C2A-C2A1-2FA2-BF27-59447FCD867D}"/>
              </a:ext>
            </a:extLst>
          </p:cNvPr>
          <p:cNvGrpSpPr/>
          <p:nvPr/>
        </p:nvGrpSpPr>
        <p:grpSpPr>
          <a:xfrm>
            <a:off x="167148" y="4924813"/>
            <a:ext cx="3829491" cy="1815882"/>
            <a:chOff x="485954" y="4440037"/>
            <a:chExt cx="3116054" cy="2185578"/>
          </a:xfrm>
        </p:grpSpPr>
        <p:sp>
          <p:nvSpPr>
            <p:cNvPr id="14" name="Rectangle: Rounded Corners 13">
              <a:extLst>
                <a:ext uri="{FF2B5EF4-FFF2-40B4-BE49-F238E27FC236}">
                  <a16:creationId xmlns:a16="http://schemas.microsoft.com/office/drawing/2014/main" id="{1AEA0F34-E091-4783-DB40-95C344476130}"/>
                </a:ext>
              </a:extLst>
            </p:cNvPr>
            <p:cNvSpPr/>
            <p:nvPr/>
          </p:nvSpPr>
          <p:spPr>
            <a:xfrm>
              <a:off x="485954" y="4441643"/>
              <a:ext cx="3116054" cy="2153410"/>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a:cs typeface="Times New Roman"/>
              </a:endParaRPr>
            </a:p>
          </p:txBody>
        </p:sp>
        <p:sp>
          <p:nvSpPr>
            <p:cNvPr id="15" name="TextBox 14">
              <a:extLst>
                <a:ext uri="{FF2B5EF4-FFF2-40B4-BE49-F238E27FC236}">
                  <a16:creationId xmlns:a16="http://schemas.microsoft.com/office/drawing/2014/main" id="{0D94030C-349D-FF57-24F8-B1191EB0E50B}"/>
                </a:ext>
              </a:extLst>
            </p:cNvPr>
            <p:cNvSpPr txBox="1"/>
            <p:nvPr/>
          </p:nvSpPr>
          <p:spPr>
            <a:xfrm>
              <a:off x="548641" y="4440037"/>
              <a:ext cx="2721489" cy="21855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a:solidFill>
                    <a:schemeClr val="bg1"/>
                  </a:solidFill>
                  <a:latin typeface="Times New Roman"/>
                  <a:ea typeface="+mn-lt"/>
                  <a:cs typeface="Times New Roman"/>
                </a:rPr>
                <a:t>Based on the ATmega328P microcontroller</a:t>
              </a:r>
            </a:p>
            <a:p>
              <a:pPr marL="285750" indent="-285750">
                <a:buFont typeface="Arial"/>
                <a:buChar char="•"/>
              </a:pPr>
              <a:r>
                <a:rPr lang="en-US" sz="1600">
                  <a:solidFill>
                    <a:schemeClr val="bg1"/>
                  </a:solidFill>
                  <a:latin typeface="Times New Roman"/>
                  <a:ea typeface="+mn-lt"/>
                  <a:cs typeface="Times New Roman"/>
                </a:rPr>
                <a:t>Provides 14 digital I/O pins and 8 analog inputs</a:t>
              </a:r>
            </a:p>
            <a:p>
              <a:pPr marL="285750" indent="-285750">
                <a:buFont typeface="Arial"/>
                <a:buChar char="•"/>
              </a:pPr>
              <a:r>
                <a:rPr lang="en-US" sz="1600">
                  <a:solidFill>
                    <a:schemeClr val="bg1"/>
                  </a:solidFill>
                  <a:latin typeface="Times New Roman"/>
                  <a:ea typeface="+mn-lt"/>
                  <a:cs typeface="Times New Roman"/>
                </a:rPr>
                <a:t>Includes USB connectivity</a:t>
              </a:r>
              <a:endParaRPr lang="en-US">
                <a:latin typeface="Times New Roman"/>
                <a:cs typeface="Times New Roman"/>
              </a:endParaRPr>
            </a:p>
            <a:p>
              <a:pPr marL="285750" indent="-285750">
                <a:buFont typeface="Arial"/>
                <a:buChar char="•"/>
              </a:pPr>
              <a:r>
                <a:rPr lang="en-US" sz="1600">
                  <a:solidFill>
                    <a:schemeClr val="bg1"/>
                  </a:solidFill>
                  <a:latin typeface="Times New Roman"/>
                  <a:ea typeface="+mn-lt"/>
                  <a:cs typeface="Times New Roman"/>
                </a:rPr>
                <a:t>Suitable for small-scale embedded and IoT projects</a:t>
              </a:r>
              <a:endParaRPr lang="en-US" sz="1600">
                <a:solidFill>
                  <a:schemeClr val="bg1"/>
                </a:solidFill>
                <a:latin typeface="Times New Roman"/>
                <a:cs typeface="Times New Roman"/>
              </a:endParaRPr>
            </a:p>
          </p:txBody>
        </p:sp>
      </p:grpSp>
      <p:sp>
        <p:nvSpPr>
          <p:cNvPr id="18" name="Rectangle 17">
            <a:extLst>
              <a:ext uri="{FF2B5EF4-FFF2-40B4-BE49-F238E27FC236}">
                <a16:creationId xmlns:a16="http://schemas.microsoft.com/office/drawing/2014/main" id="{0091588E-D60C-E08F-19C2-8715AA1AA6EA}"/>
              </a:ext>
            </a:extLst>
          </p:cNvPr>
          <p:cNvSpPr/>
          <p:nvPr/>
        </p:nvSpPr>
        <p:spPr>
          <a:xfrm>
            <a:off x="989132" y="4407767"/>
            <a:ext cx="2181046" cy="401416"/>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latin typeface="Times New Roman"/>
                <a:ea typeface="+mn-lt"/>
                <a:cs typeface="+mn-lt"/>
              </a:rPr>
              <a:t>Arduino Nano</a:t>
            </a:r>
            <a:endParaRPr lang="en-US" b="1">
              <a:solidFill>
                <a:schemeClr val="bg1"/>
              </a:solidFill>
              <a:latin typeface="Times New Roman"/>
              <a:cs typeface="Times New Roman"/>
            </a:endParaRPr>
          </a:p>
        </p:txBody>
      </p:sp>
      <p:grpSp>
        <p:nvGrpSpPr>
          <p:cNvPr id="22" name="Group 21">
            <a:extLst>
              <a:ext uri="{FF2B5EF4-FFF2-40B4-BE49-F238E27FC236}">
                <a16:creationId xmlns:a16="http://schemas.microsoft.com/office/drawing/2014/main" id="{B2C0DECB-9284-330E-6074-8F02EF3AEABC}"/>
              </a:ext>
            </a:extLst>
          </p:cNvPr>
          <p:cNvGrpSpPr/>
          <p:nvPr/>
        </p:nvGrpSpPr>
        <p:grpSpPr>
          <a:xfrm>
            <a:off x="4415910" y="4923780"/>
            <a:ext cx="3502419" cy="1673196"/>
            <a:chOff x="485954" y="4441643"/>
            <a:chExt cx="3116054" cy="2153410"/>
          </a:xfrm>
        </p:grpSpPr>
        <p:sp>
          <p:nvSpPr>
            <p:cNvPr id="20" name="Rectangle: Rounded Corners 19">
              <a:extLst>
                <a:ext uri="{FF2B5EF4-FFF2-40B4-BE49-F238E27FC236}">
                  <a16:creationId xmlns:a16="http://schemas.microsoft.com/office/drawing/2014/main" id="{46CF66FC-2B39-4FE3-369C-C237C039FCF5}"/>
                </a:ext>
              </a:extLst>
            </p:cNvPr>
            <p:cNvSpPr/>
            <p:nvPr/>
          </p:nvSpPr>
          <p:spPr>
            <a:xfrm>
              <a:off x="485954" y="4441643"/>
              <a:ext cx="3116054" cy="2153410"/>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a:cs typeface="Times New Roman"/>
              </a:endParaRPr>
            </a:p>
          </p:txBody>
        </p:sp>
        <p:sp>
          <p:nvSpPr>
            <p:cNvPr id="21" name="TextBox 20">
              <a:extLst>
                <a:ext uri="{FF2B5EF4-FFF2-40B4-BE49-F238E27FC236}">
                  <a16:creationId xmlns:a16="http://schemas.microsoft.com/office/drawing/2014/main" id="{DD3BC948-644E-7447-49CF-2B3A452398BA}"/>
                </a:ext>
              </a:extLst>
            </p:cNvPr>
            <p:cNvSpPr txBox="1"/>
            <p:nvPr/>
          </p:nvSpPr>
          <p:spPr>
            <a:xfrm>
              <a:off x="548641" y="4511040"/>
              <a:ext cx="2987040"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a:solidFill>
                    <a:schemeClr val="bg1"/>
                  </a:solidFill>
                  <a:latin typeface="Times New Roman"/>
                  <a:ea typeface="+mn-lt"/>
                  <a:cs typeface="+mn-lt"/>
                </a:rPr>
                <a:t>Measures soil water content (wet or dry)</a:t>
              </a:r>
            </a:p>
            <a:p>
              <a:pPr marL="285750" indent="-285750">
                <a:buFont typeface="Arial"/>
                <a:buChar char="•"/>
              </a:pPr>
              <a:r>
                <a:rPr lang="en-US" sz="1600">
                  <a:solidFill>
                    <a:schemeClr val="bg1"/>
                  </a:solidFill>
                  <a:latin typeface="Times New Roman"/>
                  <a:ea typeface="+mn-lt"/>
                  <a:cs typeface="+mn-lt"/>
                </a:rPr>
                <a:t>Works by detecting changes in electrical resistance or capacitance</a:t>
              </a:r>
            </a:p>
            <a:p>
              <a:pPr marL="285750" indent="-285750">
                <a:buFont typeface="Arial"/>
                <a:buChar char="•"/>
              </a:pPr>
              <a:r>
                <a:rPr lang="en-US" sz="1600">
                  <a:solidFill>
                    <a:schemeClr val="bg1"/>
                  </a:solidFill>
                  <a:latin typeface="Times New Roman"/>
                  <a:ea typeface="+mn-lt"/>
                  <a:cs typeface="+mn-lt"/>
                </a:rPr>
                <a:t>Ensures the optimal soil conditions for crop growth</a:t>
              </a:r>
              <a:endParaRPr lang="en-US" sz="1600">
                <a:solidFill>
                  <a:schemeClr val="bg1"/>
                </a:solidFill>
                <a:latin typeface="Times New Roman"/>
                <a:cs typeface="Times New Roman"/>
              </a:endParaRPr>
            </a:p>
          </p:txBody>
        </p:sp>
      </p:grpSp>
      <p:grpSp>
        <p:nvGrpSpPr>
          <p:cNvPr id="26" name="Group 25">
            <a:extLst>
              <a:ext uri="{FF2B5EF4-FFF2-40B4-BE49-F238E27FC236}">
                <a16:creationId xmlns:a16="http://schemas.microsoft.com/office/drawing/2014/main" id="{D53E39B2-DC6D-3DF0-809C-0D39828FC4F4}"/>
              </a:ext>
            </a:extLst>
          </p:cNvPr>
          <p:cNvGrpSpPr/>
          <p:nvPr/>
        </p:nvGrpSpPr>
        <p:grpSpPr>
          <a:xfrm>
            <a:off x="8317280" y="4928094"/>
            <a:ext cx="3713746" cy="1719881"/>
            <a:chOff x="8317280" y="4928094"/>
            <a:chExt cx="3713746" cy="1719881"/>
          </a:xfrm>
        </p:grpSpPr>
        <p:sp>
          <p:nvSpPr>
            <p:cNvPr id="24" name="Rectangle: Rounded Corners 23">
              <a:extLst>
                <a:ext uri="{FF2B5EF4-FFF2-40B4-BE49-F238E27FC236}">
                  <a16:creationId xmlns:a16="http://schemas.microsoft.com/office/drawing/2014/main" id="{FF48D968-5F61-50D2-0047-C2DAD6EC8733}"/>
                </a:ext>
              </a:extLst>
            </p:cNvPr>
            <p:cNvSpPr/>
            <p:nvPr/>
          </p:nvSpPr>
          <p:spPr>
            <a:xfrm>
              <a:off x="8317280" y="4928094"/>
              <a:ext cx="3713746" cy="1719881"/>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a:cs typeface="Times New Roman"/>
              </a:endParaRPr>
            </a:p>
          </p:txBody>
        </p:sp>
        <p:sp>
          <p:nvSpPr>
            <p:cNvPr id="25" name="TextBox 24">
              <a:extLst>
                <a:ext uri="{FF2B5EF4-FFF2-40B4-BE49-F238E27FC236}">
                  <a16:creationId xmlns:a16="http://schemas.microsoft.com/office/drawing/2014/main" id="{24E42D68-78FE-C6AF-81A0-1F23D3A31D30}"/>
                </a:ext>
              </a:extLst>
            </p:cNvPr>
            <p:cNvSpPr txBox="1"/>
            <p:nvPr/>
          </p:nvSpPr>
          <p:spPr>
            <a:xfrm>
              <a:off x="8347334" y="5012413"/>
              <a:ext cx="3674495" cy="15630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a:solidFill>
                    <a:schemeClr val="bg1"/>
                  </a:solidFill>
                  <a:latin typeface="Times New Roman"/>
                  <a:ea typeface="+mn-lt"/>
                  <a:cs typeface="+mn-lt"/>
                </a:rPr>
                <a:t>Temperature readings from –55°C to +125°C</a:t>
              </a:r>
            </a:p>
            <a:p>
              <a:pPr marL="285750" indent="-285750">
                <a:buFont typeface="Arial"/>
                <a:buChar char="•"/>
              </a:pPr>
              <a:r>
                <a:rPr lang="en-US" sz="1600">
                  <a:solidFill>
                    <a:schemeClr val="bg1"/>
                  </a:solidFill>
                  <a:latin typeface="Times New Roman"/>
                  <a:ea typeface="+mn-lt"/>
                  <a:cs typeface="+mn-lt"/>
                </a:rPr>
                <a:t>Uses a 1-Wire protocol by allowing multiple sensors to connect through a single data pin</a:t>
              </a:r>
            </a:p>
            <a:p>
              <a:pPr marL="285750" indent="-285750">
                <a:buFont typeface="Arial"/>
                <a:buChar char="•"/>
              </a:pPr>
              <a:r>
                <a:rPr lang="en-US" sz="1600">
                  <a:solidFill>
                    <a:schemeClr val="bg1"/>
                  </a:solidFill>
                  <a:latin typeface="Times New Roman"/>
                  <a:ea typeface="+mn-lt"/>
                  <a:cs typeface="+mn-lt"/>
                </a:rPr>
                <a:t>Ideal for Soil temperature monitoring</a:t>
              </a:r>
              <a:endParaRPr lang="en-US" sz="1600">
                <a:solidFill>
                  <a:schemeClr val="bg1"/>
                </a:solidFill>
                <a:latin typeface="Times New Roman"/>
                <a:cs typeface="Times New Roman"/>
              </a:endParaRPr>
            </a:p>
          </p:txBody>
        </p:sp>
      </p:grpSp>
      <p:sp>
        <p:nvSpPr>
          <p:cNvPr id="28" name="Rectangle 27">
            <a:extLst>
              <a:ext uri="{FF2B5EF4-FFF2-40B4-BE49-F238E27FC236}">
                <a16:creationId xmlns:a16="http://schemas.microsoft.com/office/drawing/2014/main" id="{22AF42F9-B259-15C8-5F37-AEDFEC2EABF6}"/>
              </a:ext>
            </a:extLst>
          </p:cNvPr>
          <p:cNvSpPr/>
          <p:nvPr/>
        </p:nvSpPr>
        <p:spPr>
          <a:xfrm>
            <a:off x="4790065" y="4407767"/>
            <a:ext cx="2741763" cy="401416"/>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bg1"/>
                </a:solidFill>
                <a:latin typeface="Times New Roman"/>
                <a:ea typeface="+mn-lt"/>
                <a:cs typeface="Times New Roman"/>
              </a:rPr>
              <a:t>Soil Moisture Sensor</a:t>
            </a:r>
            <a:endParaRPr lang="en-US">
              <a:latin typeface="Times New Roman"/>
              <a:cs typeface="Times New Roman"/>
            </a:endParaRPr>
          </a:p>
        </p:txBody>
      </p:sp>
      <p:sp>
        <p:nvSpPr>
          <p:cNvPr id="30" name="Rectangle 29">
            <a:extLst>
              <a:ext uri="{FF2B5EF4-FFF2-40B4-BE49-F238E27FC236}">
                <a16:creationId xmlns:a16="http://schemas.microsoft.com/office/drawing/2014/main" id="{E9D3878E-5796-0107-9241-67D41B4CCE24}"/>
              </a:ext>
            </a:extLst>
          </p:cNvPr>
          <p:cNvSpPr/>
          <p:nvPr/>
        </p:nvSpPr>
        <p:spPr>
          <a:xfrm>
            <a:off x="8609178" y="4407025"/>
            <a:ext cx="3129949" cy="401416"/>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bg1"/>
                </a:solidFill>
                <a:latin typeface="Times New Roman"/>
                <a:cs typeface="Times New Roman"/>
              </a:rPr>
              <a:t>DS18B20Temperature Sensor</a:t>
            </a:r>
            <a:endParaRPr lang="en-US">
              <a:solidFill>
                <a:schemeClr val="bg1"/>
              </a:solidFill>
              <a:latin typeface="Times New Roman"/>
              <a:cs typeface="Times New Roman"/>
            </a:endParaRPr>
          </a:p>
        </p:txBody>
      </p:sp>
    </p:spTree>
    <p:extLst>
      <p:ext uri="{BB962C8B-B14F-4D97-AF65-F5344CB8AC3E}">
        <p14:creationId xmlns:p14="http://schemas.microsoft.com/office/powerpoint/2010/main" val="27730693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1B6CA-540D-ACA2-D280-30480D979AE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3E6CC51-AAD0-39EB-4520-62CD414125F8}"/>
              </a:ext>
            </a:extLst>
          </p:cNvPr>
          <p:cNvSpPr/>
          <p:nvPr/>
        </p:nvSpPr>
        <p:spPr>
          <a:xfrm>
            <a:off x="6231466" y="3826933"/>
            <a:ext cx="1473200" cy="304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a:cs typeface="Times New Roman"/>
            </a:endParaRPr>
          </a:p>
        </p:txBody>
      </p:sp>
      <p:sp>
        <p:nvSpPr>
          <p:cNvPr id="3" name="Title 1">
            <a:extLst>
              <a:ext uri="{FF2B5EF4-FFF2-40B4-BE49-F238E27FC236}">
                <a16:creationId xmlns:a16="http://schemas.microsoft.com/office/drawing/2014/main" id="{23B7A82E-4163-039F-B55E-D61CC3F49D03}"/>
              </a:ext>
            </a:extLst>
          </p:cNvPr>
          <p:cNvSpPr txBox="1">
            <a:spLocks/>
          </p:cNvSpPr>
          <p:nvPr/>
        </p:nvSpPr>
        <p:spPr>
          <a:xfrm>
            <a:off x="838200" y="189138"/>
            <a:ext cx="10515600" cy="703208"/>
          </a:xfrm>
          <a:prstGeom prst="rect">
            <a:avLst/>
          </a:prstGeom>
        </p:spPr>
        <p:txBody>
          <a:bodyPr vert="horz" lIns="0" tIns="0" rIns="0" bIns="0" rtlCol="0" anchor="b">
            <a:noAutofit/>
          </a:bodyPr>
          <a:lstStyle>
            <a:lvl1pPr algn="l" defTabSz="914400" rtl="0" eaLnBrk="1" latinLnBrk="0" hangingPunct="1">
              <a:lnSpc>
                <a:spcPct val="80000"/>
              </a:lnSpc>
              <a:spcBef>
                <a:spcPct val="0"/>
              </a:spcBef>
              <a:buNone/>
              <a:defRPr sz="60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200">
                <a:latin typeface="Times New Roman"/>
                <a:cs typeface="Times New Roman"/>
              </a:rPr>
              <a:t>Hardware Integration</a:t>
            </a:r>
          </a:p>
        </p:txBody>
      </p:sp>
      <p:pic>
        <p:nvPicPr>
          <p:cNvPr id="5" name="Picture 4" descr="A blue tube with a blue tube next to a green circuit board&#10;&#10;AI-generated content may be incorrect.">
            <a:extLst>
              <a:ext uri="{FF2B5EF4-FFF2-40B4-BE49-F238E27FC236}">
                <a16:creationId xmlns:a16="http://schemas.microsoft.com/office/drawing/2014/main" id="{084AC511-5E59-0077-652B-08FA90DA9405}"/>
              </a:ext>
            </a:extLst>
          </p:cNvPr>
          <p:cNvPicPr>
            <a:picLocks noChangeAspect="1"/>
          </p:cNvPicPr>
          <p:nvPr/>
        </p:nvPicPr>
        <p:blipFill>
          <a:blip r:embed="rId3"/>
          <a:srcRect t="6459" b="8504"/>
          <a:stretch>
            <a:fillRect/>
          </a:stretch>
        </p:blipFill>
        <p:spPr>
          <a:xfrm>
            <a:off x="1105843" y="1431524"/>
            <a:ext cx="3443550" cy="2928248"/>
          </a:xfrm>
          <a:prstGeom prst="rect">
            <a:avLst/>
          </a:prstGeom>
          <a:ln>
            <a:noFill/>
          </a:ln>
        </p:spPr>
      </p:pic>
      <p:grpSp>
        <p:nvGrpSpPr>
          <p:cNvPr id="7" name="Group 6">
            <a:extLst>
              <a:ext uri="{FF2B5EF4-FFF2-40B4-BE49-F238E27FC236}">
                <a16:creationId xmlns:a16="http://schemas.microsoft.com/office/drawing/2014/main" id="{F62D8A1F-10E9-5CB1-BA97-AF45C745182E}"/>
              </a:ext>
            </a:extLst>
          </p:cNvPr>
          <p:cNvGrpSpPr/>
          <p:nvPr/>
        </p:nvGrpSpPr>
        <p:grpSpPr>
          <a:xfrm>
            <a:off x="515018" y="5160095"/>
            <a:ext cx="4616338" cy="1602850"/>
            <a:chOff x="515018" y="5073831"/>
            <a:chExt cx="4616338" cy="1602850"/>
          </a:xfrm>
        </p:grpSpPr>
        <p:sp>
          <p:nvSpPr>
            <p:cNvPr id="10" name="Rectangle: Rounded Corners 9">
              <a:extLst>
                <a:ext uri="{FF2B5EF4-FFF2-40B4-BE49-F238E27FC236}">
                  <a16:creationId xmlns:a16="http://schemas.microsoft.com/office/drawing/2014/main" id="{583EE90D-6F16-0FEF-BC9E-B051D658E5DC}"/>
                </a:ext>
              </a:extLst>
            </p:cNvPr>
            <p:cNvSpPr/>
            <p:nvPr/>
          </p:nvSpPr>
          <p:spPr>
            <a:xfrm>
              <a:off x="515018" y="5073831"/>
              <a:ext cx="4616338" cy="1594435"/>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a:cs typeface="Times New Roman"/>
              </a:endParaRPr>
            </a:p>
          </p:txBody>
        </p:sp>
        <p:sp>
          <p:nvSpPr>
            <p:cNvPr id="9" name="TextBox 8">
              <a:extLst>
                <a:ext uri="{FF2B5EF4-FFF2-40B4-BE49-F238E27FC236}">
                  <a16:creationId xmlns:a16="http://schemas.microsoft.com/office/drawing/2014/main" id="{07531D08-0FC0-2D2D-E46A-F0E285E45CE3}"/>
                </a:ext>
              </a:extLst>
            </p:cNvPr>
            <p:cNvSpPr txBox="1"/>
            <p:nvPr/>
          </p:nvSpPr>
          <p:spPr>
            <a:xfrm>
              <a:off x="714803" y="5107021"/>
              <a:ext cx="4222541"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a:solidFill>
                    <a:schemeClr val="bg1"/>
                  </a:solidFill>
                  <a:latin typeface="Times New Roman"/>
                  <a:ea typeface="+mn-lt"/>
                  <a:cs typeface="Times New Roman"/>
                </a:rPr>
                <a:t>Measures pH level (acidity or alkalinity) of soil or water </a:t>
              </a:r>
              <a:endParaRPr lang="en-US">
                <a:latin typeface="Times New Roman"/>
                <a:cs typeface="Times New Roman"/>
              </a:endParaRPr>
            </a:p>
            <a:p>
              <a:pPr marL="285750" indent="-285750">
                <a:buFont typeface="Arial"/>
                <a:buChar char="•"/>
              </a:pPr>
              <a:r>
                <a:rPr lang="en-US" sz="1600">
                  <a:solidFill>
                    <a:schemeClr val="bg1"/>
                  </a:solidFill>
                  <a:latin typeface="Times New Roman"/>
                  <a:ea typeface="+mn-lt"/>
                  <a:cs typeface="Times New Roman"/>
                </a:rPr>
                <a:t>Provides analog or digital output for easy interfacing with microcontrollers </a:t>
              </a:r>
              <a:endParaRPr lang="en-US">
                <a:latin typeface="Times New Roman"/>
                <a:cs typeface="Times New Roman"/>
              </a:endParaRPr>
            </a:p>
            <a:p>
              <a:pPr marL="285750" indent="-285750">
                <a:buFont typeface="Arial"/>
                <a:buChar char="•"/>
              </a:pPr>
              <a:r>
                <a:rPr lang="en-US" sz="1600" dirty="0">
                  <a:solidFill>
                    <a:schemeClr val="bg1"/>
                  </a:solidFill>
                  <a:latin typeface="Times New Roman"/>
                  <a:ea typeface="+mn-lt"/>
                  <a:cs typeface="Times New Roman"/>
                </a:rPr>
                <a:t>Comes with a probe electrode and signal conditioning module for accurate</a:t>
              </a:r>
              <a:r>
                <a:rPr lang="en-US" sz="1600">
                  <a:solidFill>
                    <a:schemeClr val="bg1"/>
                  </a:solidFill>
                  <a:latin typeface="Times New Roman"/>
                  <a:ea typeface="+mn-lt"/>
                  <a:cs typeface="Times New Roman"/>
                </a:rPr>
                <a:t> readings</a:t>
              </a:r>
              <a:endParaRPr lang="en-US">
                <a:solidFill>
                  <a:schemeClr val="bg1"/>
                </a:solidFill>
                <a:latin typeface="Times New Roman"/>
                <a:cs typeface="Times New Roman"/>
              </a:endParaRPr>
            </a:p>
          </p:txBody>
        </p:sp>
      </p:grpSp>
      <p:sp>
        <p:nvSpPr>
          <p:cNvPr id="14" name="Rectangle 13">
            <a:extLst>
              <a:ext uri="{FF2B5EF4-FFF2-40B4-BE49-F238E27FC236}">
                <a16:creationId xmlns:a16="http://schemas.microsoft.com/office/drawing/2014/main" id="{71DB208B-3C00-46B9-59A6-8002AAFC9B8C}"/>
              </a:ext>
            </a:extLst>
          </p:cNvPr>
          <p:cNvSpPr/>
          <p:nvPr/>
        </p:nvSpPr>
        <p:spPr>
          <a:xfrm>
            <a:off x="1734566" y="4551540"/>
            <a:ext cx="2181046" cy="401416"/>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bg1"/>
                </a:solidFill>
                <a:latin typeface="Times New Roman"/>
                <a:ea typeface="+mn-lt"/>
                <a:cs typeface="Times New Roman"/>
              </a:rPr>
              <a:t>PH Sensor</a:t>
            </a:r>
            <a:endParaRPr lang="en-US">
              <a:solidFill>
                <a:schemeClr val="bg1"/>
              </a:solidFill>
              <a:latin typeface="Times New Roman"/>
              <a:cs typeface="Times New Roman"/>
            </a:endParaRPr>
          </a:p>
        </p:txBody>
      </p:sp>
      <p:pic>
        <p:nvPicPr>
          <p:cNvPr id="6" name="Picture 5" descr="A close-up of a soil sensor&#10;&#10;AI-generated content may be incorrect.">
            <a:extLst>
              <a:ext uri="{FF2B5EF4-FFF2-40B4-BE49-F238E27FC236}">
                <a16:creationId xmlns:a16="http://schemas.microsoft.com/office/drawing/2014/main" id="{2E71E4F6-7434-C7B3-C18C-43761DA1119F}"/>
              </a:ext>
            </a:extLst>
          </p:cNvPr>
          <p:cNvPicPr>
            <a:picLocks noChangeAspect="1"/>
          </p:cNvPicPr>
          <p:nvPr/>
        </p:nvPicPr>
        <p:blipFill>
          <a:blip r:embed="rId4"/>
          <a:srcRect l="450" r="450"/>
          <a:stretch>
            <a:fillRect/>
          </a:stretch>
        </p:blipFill>
        <p:spPr>
          <a:xfrm>
            <a:off x="7014500" y="1436274"/>
            <a:ext cx="3563857" cy="2939589"/>
          </a:xfrm>
          <a:prstGeom prst="rect">
            <a:avLst/>
          </a:prstGeom>
          <a:ln>
            <a:noFill/>
          </a:ln>
        </p:spPr>
      </p:pic>
      <p:grpSp>
        <p:nvGrpSpPr>
          <p:cNvPr id="22" name="Group 21">
            <a:extLst>
              <a:ext uri="{FF2B5EF4-FFF2-40B4-BE49-F238E27FC236}">
                <a16:creationId xmlns:a16="http://schemas.microsoft.com/office/drawing/2014/main" id="{83527907-1857-EE3C-1739-0DDED3FC2B5F}"/>
              </a:ext>
            </a:extLst>
          </p:cNvPr>
          <p:cNvGrpSpPr/>
          <p:nvPr/>
        </p:nvGrpSpPr>
        <p:grpSpPr>
          <a:xfrm>
            <a:off x="6227615" y="5085838"/>
            <a:ext cx="5266611" cy="1673196"/>
            <a:chOff x="-155141" y="4441643"/>
            <a:chExt cx="4685632" cy="2153410"/>
          </a:xfrm>
        </p:grpSpPr>
        <p:sp>
          <p:nvSpPr>
            <p:cNvPr id="23" name="Rectangle: Rounded Corners 22">
              <a:extLst>
                <a:ext uri="{FF2B5EF4-FFF2-40B4-BE49-F238E27FC236}">
                  <a16:creationId xmlns:a16="http://schemas.microsoft.com/office/drawing/2014/main" id="{60C7CF51-97B0-011C-385E-13A7E9409E5F}"/>
                </a:ext>
              </a:extLst>
            </p:cNvPr>
            <p:cNvSpPr/>
            <p:nvPr/>
          </p:nvSpPr>
          <p:spPr>
            <a:xfrm>
              <a:off x="-155141" y="4441643"/>
              <a:ext cx="4685632" cy="2153410"/>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a:cs typeface="Times New Roman"/>
              </a:endParaRPr>
            </a:p>
          </p:txBody>
        </p:sp>
        <p:sp>
          <p:nvSpPr>
            <p:cNvPr id="24" name="TextBox 23">
              <a:extLst>
                <a:ext uri="{FF2B5EF4-FFF2-40B4-BE49-F238E27FC236}">
                  <a16:creationId xmlns:a16="http://schemas.microsoft.com/office/drawing/2014/main" id="{8B89AA97-5599-F8CA-25DA-A4555FFEDC89}"/>
                </a:ext>
              </a:extLst>
            </p:cNvPr>
            <p:cNvSpPr txBox="1"/>
            <p:nvPr/>
          </p:nvSpPr>
          <p:spPr>
            <a:xfrm>
              <a:off x="-136668" y="4511040"/>
              <a:ext cx="4563990" cy="20201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a:solidFill>
                    <a:schemeClr val="bg1"/>
                  </a:solidFill>
                  <a:latin typeface="Times New Roman"/>
                  <a:ea typeface="+mn-lt"/>
                  <a:cs typeface="Times New Roman"/>
                </a:rPr>
                <a:t>Measures Nitrogen (N), Phosphorus (P), and Potassium (K) levels in soil </a:t>
              </a:r>
              <a:endParaRPr lang="en-US">
                <a:solidFill>
                  <a:schemeClr val="bg1"/>
                </a:solidFill>
                <a:latin typeface="Times New Roman"/>
                <a:cs typeface="Times New Roman"/>
              </a:endParaRPr>
            </a:p>
            <a:p>
              <a:pPr marL="285750" indent="-285750">
                <a:buFont typeface="Arial"/>
                <a:buChar char="•"/>
              </a:pPr>
              <a:r>
                <a:rPr lang="en-US" sz="1600">
                  <a:solidFill>
                    <a:schemeClr val="bg1"/>
                  </a:solidFill>
                  <a:latin typeface="Times New Roman"/>
                  <a:ea typeface="+mn-lt"/>
                  <a:cs typeface="Times New Roman"/>
                </a:rPr>
                <a:t>Uses RS485 (Modbus communication) for real-time data transmission </a:t>
              </a:r>
              <a:endParaRPr lang="en-US">
                <a:latin typeface="Times New Roman"/>
                <a:cs typeface="Times New Roman"/>
              </a:endParaRPr>
            </a:p>
            <a:p>
              <a:pPr marL="285750" indent="-285750">
                <a:buFont typeface="Arial"/>
                <a:buChar char="•"/>
              </a:pPr>
              <a:r>
                <a:rPr lang="en-US" sz="1600" dirty="0">
                  <a:solidFill>
                    <a:schemeClr val="bg1"/>
                  </a:solidFill>
                  <a:latin typeface="Times New Roman"/>
                  <a:ea typeface="+mn-lt"/>
                  <a:cs typeface="Times New Roman"/>
                </a:rPr>
                <a:t>Features IP68 waterproof </a:t>
              </a:r>
              <a:r>
                <a:rPr lang="en-US" sz="1600" dirty="0" err="1">
                  <a:solidFill>
                    <a:schemeClr val="bg1"/>
                  </a:solidFill>
                  <a:latin typeface="Times New Roman"/>
                  <a:ea typeface="+mn-lt"/>
                  <a:cs typeface="Times New Roman"/>
                </a:rPr>
                <a:t>stainless steel</a:t>
              </a:r>
              <a:r>
                <a:rPr lang="en-US" sz="1600" dirty="0">
                  <a:solidFill>
                    <a:schemeClr val="bg1"/>
                  </a:solidFill>
                  <a:latin typeface="Times New Roman"/>
                  <a:ea typeface="+mn-lt"/>
                  <a:cs typeface="Times New Roman"/>
                </a:rPr>
                <a:t> probe for long-term soil monitoring</a:t>
              </a:r>
              <a:endParaRPr lang="en-US" dirty="0">
                <a:solidFill>
                  <a:schemeClr val="bg1"/>
                </a:solidFill>
                <a:latin typeface="Times New Roman"/>
                <a:cs typeface="Times New Roman"/>
              </a:endParaRPr>
            </a:p>
          </p:txBody>
        </p:sp>
      </p:grpSp>
      <p:sp>
        <p:nvSpPr>
          <p:cNvPr id="28" name="Rectangle 27">
            <a:extLst>
              <a:ext uri="{FF2B5EF4-FFF2-40B4-BE49-F238E27FC236}">
                <a16:creationId xmlns:a16="http://schemas.microsoft.com/office/drawing/2014/main" id="{97E238E2-0BE9-BFFB-D39E-B058D5F7FAAF}"/>
              </a:ext>
            </a:extLst>
          </p:cNvPr>
          <p:cNvSpPr/>
          <p:nvPr/>
        </p:nvSpPr>
        <p:spPr>
          <a:xfrm>
            <a:off x="7422997" y="4555447"/>
            <a:ext cx="2741763" cy="401416"/>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bg1"/>
                </a:solidFill>
                <a:latin typeface="Times New Roman"/>
                <a:ea typeface="+mn-lt"/>
                <a:cs typeface="Times New Roman"/>
              </a:rPr>
              <a:t>NPK Sensor</a:t>
            </a:r>
            <a:endParaRPr lang="en-US">
              <a:latin typeface="Times New Roman"/>
              <a:cs typeface="Times New Roman"/>
            </a:endParaRPr>
          </a:p>
        </p:txBody>
      </p:sp>
    </p:spTree>
    <p:extLst>
      <p:ext uri="{BB962C8B-B14F-4D97-AF65-F5344CB8AC3E}">
        <p14:creationId xmlns:p14="http://schemas.microsoft.com/office/powerpoint/2010/main" val="2983226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EC13A-847C-28CA-C66F-B36611D5C0BC}"/>
            </a:ext>
          </a:extLst>
        </p:cNvPr>
        <p:cNvGrpSpPr/>
        <p:nvPr/>
      </p:nvGrpSpPr>
      <p:grpSpPr>
        <a:xfrm>
          <a:off x="0" y="0"/>
          <a:ext cx="0" cy="0"/>
          <a:chOff x="0" y="0"/>
          <a:chExt cx="0" cy="0"/>
        </a:xfrm>
      </p:grpSpPr>
      <p:sp>
        <p:nvSpPr>
          <p:cNvPr id="6" name="Arrow: Right 5">
            <a:extLst>
              <a:ext uri="{FF2B5EF4-FFF2-40B4-BE49-F238E27FC236}">
                <a16:creationId xmlns:a16="http://schemas.microsoft.com/office/drawing/2014/main" id="{37F16AF0-185B-7FAB-1987-D2F5F8FC4E23}"/>
              </a:ext>
            </a:extLst>
          </p:cNvPr>
          <p:cNvSpPr/>
          <p:nvPr/>
        </p:nvSpPr>
        <p:spPr>
          <a:xfrm>
            <a:off x="7492580" y="3789680"/>
            <a:ext cx="1041820" cy="445184"/>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D7DA7D10-ECE7-F8FD-D3A3-0D1EC7C03DAE}"/>
              </a:ext>
            </a:extLst>
          </p:cNvPr>
          <p:cNvSpPr txBox="1">
            <a:spLocks/>
          </p:cNvSpPr>
          <p:nvPr/>
        </p:nvSpPr>
        <p:spPr>
          <a:xfrm>
            <a:off x="823823" y="174761"/>
            <a:ext cx="10544354" cy="688831"/>
          </a:xfrm>
          <a:prstGeom prst="rect">
            <a:avLst/>
          </a:prstGeom>
        </p:spPr>
        <p:txBody>
          <a:bodyPr vert="horz" lIns="0" tIns="0" rIns="0" bIns="0" rtlCol="0" anchor="b">
            <a:noAutofit/>
          </a:bodyPr>
          <a:lstStyle>
            <a:lvl1pPr algn="l" defTabSz="914400" rtl="0" eaLnBrk="1" latinLnBrk="0" hangingPunct="1">
              <a:lnSpc>
                <a:spcPct val="80000"/>
              </a:lnSpc>
              <a:spcBef>
                <a:spcPct val="0"/>
              </a:spcBef>
              <a:buNone/>
              <a:defRPr sz="60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200">
                <a:latin typeface="Times New Roman"/>
                <a:cs typeface="Times New Roman"/>
              </a:rPr>
              <a:t>Software Output</a:t>
            </a:r>
          </a:p>
        </p:txBody>
      </p:sp>
      <p:pic>
        <p:nvPicPr>
          <p:cNvPr id="4" name="Picture 3" descr="A screenshot of a test&#10;&#10;AI-generated content may be incorrect.">
            <a:extLst>
              <a:ext uri="{FF2B5EF4-FFF2-40B4-BE49-F238E27FC236}">
                <a16:creationId xmlns:a16="http://schemas.microsoft.com/office/drawing/2014/main" id="{BB4188E8-D21D-632A-D94A-497D83A5F628}"/>
              </a:ext>
            </a:extLst>
          </p:cNvPr>
          <p:cNvPicPr>
            <a:picLocks noChangeAspect="1"/>
          </p:cNvPicPr>
          <p:nvPr/>
        </p:nvPicPr>
        <p:blipFill>
          <a:blip r:embed="rId2"/>
          <a:srcRect l="9793" r="9793"/>
          <a:stretch>
            <a:fillRect/>
          </a:stretch>
        </p:blipFill>
        <p:spPr>
          <a:xfrm>
            <a:off x="549130" y="1043788"/>
            <a:ext cx="7062126" cy="3943370"/>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14DA24E9-74D2-468A-B7B5-5B6450376A0E}"/>
              </a:ext>
            </a:extLst>
          </p:cNvPr>
          <p:cNvPicPr>
            <a:picLocks noChangeAspect="1"/>
          </p:cNvPicPr>
          <p:nvPr/>
        </p:nvPicPr>
        <p:blipFill>
          <a:blip r:embed="rId3"/>
          <a:srcRect l="36089" t="18895" r="36099" b="10870"/>
          <a:stretch>
            <a:fillRect/>
          </a:stretch>
        </p:blipFill>
        <p:spPr>
          <a:xfrm>
            <a:off x="8312770" y="1243723"/>
            <a:ext cx="3501433" cy="3551402"/>
          </a:xfrm>
          <a:prstGeom prst="rect">
            <a:avLst/>
          </a:prstGeom>
        </p:spPr>
      </p:pic>
      <p:sp>
        <p:nvSpPr>
          <p:cNvPr id="8" name="Rectangle: Rounded Corners 7">
            <a:extLst>
              <a:ext uri="{FF2B5EF4-FFF2-40B4-BE49-F238E27FC236}">
                <a16:creationId xmlns:a16="http://schemas.microsoft.com/office/drawing/2014/main" id="{17777C6E-C119-044D-2DC8-81B35BCC450F}"/>
              </a:ext>
            </a:extLst>
          </p:cNvPr>
          <p:cNvSpPr/>
          <p:nvPr/>
        </p:nvSpPr>
        <p:spPr>
          <a:xfrm>
            <a:off x="1117216" y="5140623"/>
            <a:ext cx="5927022" cy="1529007"/>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800" baseline="0">
                <a:solidFill>
                  <a:schemeClr val="bg1"/>
                </a:solidFill>
                <a:latin typeface="Times New Roman"/>
                <a:ea typeface="Segoe UI"/>
                <a:cs typeface="Segoe UI"/>
              </a:rPr>
              <a:t>Updated Crop Recommendation System form with </a:t>
            </a:r>
            <a:r>
              <a:rPr lang="en-US">
                <a:solidFill>
                  <a:schemeClr val="bg1"/>
                </a:solidFill>
                <a:latin typeface="Times New Roman"/>
                <a:ea typeface="Segoe UI"/>
                <a:cs typeface="Segoe UI"/>
              </a:rPr>
              <a:t>sample values</a:t>
            </a:r>
            <a:r>
              <a:rPr lang="en-US" sz="1800" baseline="0">
                <a:solidFill>
                  <a:schemeClr val="bg1"/>
                </a:solidFill>
                <a:latin typeface="Times New Roman"/>
                <a:ea typeface="Segoe UI"/>
                <a:cs typeface="Segoe UI"/>
              </a:rPr>
              <a:t> filled in, ready for processing and crop prediction.</a:t>
            </a:r>
            <a:r>
              <a:rPr lang="en-US">
                <a:solidFill>
                  <a:schemeClr val="bg1"/>
                </a:solidFill>
                <a:latin typeface="Times New Roman"/>
                <a:ea typeface="Segoe UI"/>
                <a:cs typeface="Segoe UI"/>
              </a:rPr>
              <a:t> </a:t>
            </a:r>
            <a:r>
              <a:rPr lang="en-US" sz="1800" baseline="0">
                <a:solidFill>
                  <a:schemeClr val="bg1"/>
                </a:solidFill>
                <a:latin typeface="Times New Roman"/>
                <a:ea typeface="Segoe UI"/>
                <a:cs typeface="Segoe UI"/>
              </a:rPr>
              <a:t>Live weather data fetched after clicking “Fetch </a:t>
            </a:r>
            <a:r>
              <a:rPr lang="en-US">
                <a:solidFill>
                  <a:schemeClr val="bg1"/>
                </a:solidFill>
                <a:latin typeface="Times New Roman"/>
                <a:ea typeface="Segoe UI"/>
                <a:cs typeface="Segoe UI"/>
              </a:rPr>
              <a:t>Live Weather</a:t>
            </a:r>
            <a:r>
              <a:rPr lang="en-US" sz="1800" baseline="0">
                <a:solidFill>
                  <a:schemeClr val="bg1"/>
                </a:solidFill>
                <a:latin typeface="Times New Roman"/>
                <a:ea typeface="Segoe UI"/>
                <a:cs typeface="Segoe UI"/>
              </a:rPr>
              <a:t> Data" button using OpenWeatherMap APIs.</a:t>
            </a:r>
            <a:r>
              <a:rPr lang="en-US" sz="1800">
                <a:solidFill>
                  <a:schemeClr val="bg1"/>
                </a:solidFill>
                <a:latin typeface="Times New Roman"/>
                <a:ea typeface="Franklin Gothic Book"/>
                <a:cs typeface="Franklin Gothic Book"/>
              </a:rPr>
              <a:t>​</a:t>
            </a:r>
            <a:endParaRPr lang="en-US">
              <a:solidFill>
                <a:schemeClr val="bg1"/>
              </a:solidFill>
              <a:latin typeface="Times New Roman"/>
              <a:cs typeface="Times New Roman"/>
            </a:endParaRPr>
          </a:p>
        </p:txBody>
      </p:sp>
      <p:sp>
        <p:nvSpPr>
          <p:cNvPr id="12" name="Rectangle: Rounded Corners 11">
            <a:extLst>
              <a:ext uri="{FF2B5EF4-FFF2-40B4-BE49-F238E27FC236}">
                <a16:creationId xmlns:a16="http://schemas.microsoft.com/office/drawing/2014/main" id="{B76EC4D0-EB40-3406-B0F7-0310D6246FD6}"/>
              </a:ext>
            </a:extLst>
          </p:cNvPr>
          <p:cNvSpPr/>
          <p:nvPr/>
        </p:nvSpPr>
        <p:spPr>
          <a:xfrm>
            <a:off x="8309013" y="5111956"/>
            <a:ext cx="3502033" cy="1537514"/>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9C6E964-61DC-2D92-88F9-E8ED8C182313}"/>
              </a:ext>
            </a:extLst>
          </p:cNvPr>
          <p:cNvSpPr txBox="1"/>
          <p:nvPr/>
        </p:nvSpPr>
        <p:spPr>
          <a:xfrm>
            <a:off x="8321955" y="4610398"/>
            <a:ext cx="3357038" cy="4629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endParaRPr lang="en-US">
              <a:solidFill>
                <a:schemeClr val="bg1"/>
              </a:solidFill>
              <a:latin typeface="Times New Roman"/>
              <a:cs typeface="Times New Roman"/>
            </a:endParaRPr>
          </a:p>
        </p:txBody>
      </p:sp>
      <p:sp>
        <p:nvSpPr>
          <p:cNvPr id="15" name="TextBox 14">
            <a:extLst>
              <a:ext uri="{FF2B5EF4-FFF2-40B4-BE49-F238E27FC236}">
                <a16:creationId xmlns:a16="http://schemas.microsoft.com/office/drawing/2014/main" id="{4C157CE9-5CF8-0509-AF5B-C54B61635D90}"/>
              </a:ext>
            </a:extLst>
          </p:cNvPr>
          <p:cNvSpPr txBox="1"/>
          <p:nvPr/>
        </p:nvSpPr>
        <p:spPr>
          <a:xfrm rot="10800000" flipV="1">
            <a:off x="8375290" y="5171292"/>
            <a:ext cx="3507035"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aseline="0">
                <a:solidFill>
                  <a:schemeClr val="bg1"/>
                </a:solidFill>
                <a:latin typeface="Times New Roman"/>
                <a:ea typeface="Segoe UI"/>
                <a:cs typeface="Segoe UI"/>
              </a:rPr>
              <a:t>Output section of the Crop </a:t>
            </a:r>
            <a:r>
              <a:rPr lang="en-US">
                <a:solidFill>
                  <a:schemeClr val="bg1"/>
                </a:solidFill>
                <a:latin typeface="Times New Roman"/>
                <a:ea typeface="Segoe UI"/>
                <a:cs typeface="Segoe UI"/>
              </a:rPr>
              <a:t>Recommendation System</a:t>
            </a:r>
            <a:r>
              <a:rPr lang="en-US" sz="1800" baseline="0">
                <a:solidFill>
                  <a:schemeClr val="bg1"/>
                </a:solidFill>
                <a:latin typeface="Times New Roman"/>
                <a:ea typeface="Segoe UI"/>
                <a:cs typeface="Segoe UI"/>
              </a:rPr>
              <a:t> showing the predicted best crop (</a:t>
            </a:r>
            <a:r>
              <a:rPr lang="en-US">
                <a:solidFill>
                  <a:schemeClr val="bg1"/>
                </a:solidFill>
                <a:latin typeface="Times New Roman"/>
                <a:ea typeface="Segoe UI"/>
                <a:cs typeface="Segoe UI"/>
              </a:rPr>
              <a:t>Moth beans</a:t>
            </a:r>
            <a:r>
              <a:rPr lang="en-US" sz="1800" baseline="0">
                <a:solidFill>
                  <a:schemeClr val="bg1"/>
                </a:solidFill>
                <a:latin typeface="Times New Roman"/>
                <a:ea typeface="Segoe UI"/>
                <a:cs typeface="Segoe UI"/>
              </a:rPr>
              <a:t>)</a:t>
            </a:r>
            <a:r>
              <a:rPr lang="en-US">
                <a:solidFill>
                  <a:schemeClr val="bg1"/>
                </a:solidFill>
                <a:latin typeface="Times New Roman"/>
                <a:ea typeface="Segoe UI"/>
                <a:cs typeface="Segoe UI"/>
              </a:rPr>
              <a:t> </a:t>
            </a:r>
            <a:r>
              <a:rPr lang="en-US" sz="1800" baseline="0">
                <a:solidFill>
                  <a:schemeClr val="bg1"/>
                </a:solidFill>
                <a:latin typeface="Times New Roman"/>
                <a:ea typeface="Segoe UI"/>
                <a:cs typeface="Segoe UI"/>
              </a:rPr>
              <a:t>based on the input soil and </a:t>
            </a:r>
            <a:r>
              <a:rPr lang="en-US">
                <a:solidFill>
                  <a:schemeClr val="bg1"/>
                </a:solidFill>
                <a:latin typeface="Times New Roman"/>
                <a:ea typeface="Segoe UI"/>
                <a:cs typeface="Segoe UI"/>
              </a:rPr>
              <a:t>environmental parameters</a:t>
            </a:r>
            <a:r>
              <a:rPr lang="en-US" sz="1800" baseline="0">
                <a:solidFill>
                  <a:schemeClr val="bg1"/>
                </a:solidFill>
                <a:latin typeface="Times New Roman"/>
                <a:ea typeface="Segoe UI"/>
                <a:cs typeface="Segoe UI"/>
              </a:rPr>
              <a:t>.</a:t>
            </a:r>
            <a:r>
              <a:rPr lang="en-US" sz="1800">
                <a:solidFill>
                  <a:schemeClr val="bg1"/>
                </a:solidFill>
                <a:latin typeface="Times New Roman"/>
                <a:ea typeface="Franklin Gothic Book"/>
                <a:cs typeface="Franklin Gothic Book"/>
              </a:rPr>
              <a:t>​</a:t>
            </a:r>
            <a:endParaRPr lang="en-US">
              <a:solidFill>
                <a:schemeClr val="bg1"/>
              </a:solidFill>
              <a:latin typeface="Times New Roman"/>
              <a:cs typeface="Times New Roman"/>
            </a:endParaRPr>
          </a:p>
        </p:txBody>
      </p:sp>
      <p:sp>
        <p:nvSpPr>
          <p:cNvPr id="2" name="Arrow: Right 1">
            <a:extLst>
              <a:ext uri="{FF2B5EF4-FFF2-40B4-BE49-F238E27FC236}">
                <a16:creationId xmlns:a16="http://schemas.microsoft.com/office/drawing/2014/main" id="{3786DE21-A001-553F-5C3A-76C07783B2C5}"/>
              </a:ext>
            </a:extLst>
          </p:cNvPr>
          <p:cNvSpPr/>
          <p:nvPr/>
        </p:nvSpPr>
        <p:spPr>
          <a:xfrm>
            <a:off x="7664253" y="2830467"/>
            <a:ext cx="575728" cy="228144"/>
          </a:xfrm>
          <a:prstGeom prst="rightArrow">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25937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hatbot&#10;&#10;AI-generated content may be incorrect.">
            <a:extLst>
              <a:ext uri="{FF2B5EF4-FFF2-40B4-BE49-F238E27FC236}">
                <a16:creationId xmlns:a16="http://schemas.microsoft.com/office/drawing/2014/main" id="{64206FBF-A630-BF63-F6A0-96F644F0D5DE}"/>
              </a:ext>
            </a:extLst>
          </p:cNvPr>
          <p:cNvPicPr>
            <a:picLocks noChangeAspect="1"/>
          </p:cNvPicPr>
          <p:nvPr/>
        </p:nvPicPr>
        <p:blipFill>
          <a:blip r:embed="rId2"/>
          <a:stretch>
            <a:fillRect/>
          </a:stretch>
        </p:blipFill>
        <p:spPr>
          <a:xfrm>
            <a:off x="61270" y="1258919"/>
            <a:ext cx="12065286" cy="5546470"/>
          </a:xfrm>
          <a:prstGeom prst="rect">
            <a:avLst/>
          </a:prstGeom>
        </p:spPr>
      </p:pic>
      <p:sp>
        <p:nvSpPr>
          <p:cNvPr id="6" name="Title 1">
            <a:extLst>
              <a:ext uri="{FF2B5EF4-FFF2-40B4-BE49-F238E27FC236}">
                <a16:creationId xmlns:a16="http://schemas.microsoft.com/office/drawing/2014/main" id="{6FAA7B13-8A33-22F7-4F25-17B7A427E93D}"/>
              </a:ext>
            </a:extLst>
          </p:cNvPr>
          <p:cNvSpPr txBox="1">
            <a:spLocks/>
          </p:cNvSpPr>
          <p:nvPr/>
        </p:nvSpPr>
        <p:spPr>
          <a:xfrm>
            <a:off x="823823" y="261025"/>
            <a:ext cx="10544354" cy="688831"/>
          </a:xfrm>
          <a:prstGeom prst="rect">
            <a:avLst/>
          </a:prstGeom>
        </p:spPr>
        <p:txBody>
          <a:bodyPr vert="horz" lIns="0" tIns="0" rIns="0" bIns="0" rtlCol="0" anchor="b">
            <a:noAutofit/>
          </a:bodyPr>
          <a:lstStyle>
            <a:lvl1pPr algn="l" defTabSz="914400" rtl="0" eaLnBrk="1" latinLnBrk="0" hangingPunct="1">
              <a:lnSpc>
                <a:spcPct val="80000"/>
              </a:lnSpc>
              <a:spcBef>
                <a:spcPct val="0"/>
              </a:spcBef>
              <a:buNone/>
              <a:defRPr sz="60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200">
                <a:latin typeface="Times New Roman"/>
                <a:cs typeface="Times New Roman"/>
              </a:rPr>
              <a:t>Chatbot Output</a:t>
            </a:r>
          </a:p>
        </p:txBody>
      </p:sp>
    </p:spTree>
    <p:extLst>
      <p:ext uri="{BB962C8B-B14F-4D97-AF65-F5344CB8AC3E}">
        <p14:creationId xmlns:p14="http://schemas.microsoft.com/office/powerpoint/2010/main" val="15805831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EF24AC13-EFD9-9F0D-29AA-29E6165D90EE}"/>
              </a:ext>
            </a:extLst>
          </p:cNvPr>
          <p:cNvSpPr txBox="1"/>
          <p:nvPr/>
        </p:nvSpPr>
        <p:spPr>
          <a:xfrm>
            <a:off x="2924594" y="383397"/>
            <a:ext cx="6337300" cy="609398"/>
          </a:xfrm>
          <a:prstGeom prst="rect">
            <a:avLst/>
          </a:prstGeom>
          <a:noFill/>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algn="ctr">
              <a:lnSpc>
                <a:spcPct val="80000"/>
              </a:lnSpc>
              <a:spcBef>
                <a:spcPct val="0"/>
              </a:spcBef>
            </a:pPr>
            <a:r>
              <a:rPr lang="en-US" sz="4200" b="1" spc="100">
                <a:solidFill>
                  <a:schemeClr val="bg1"/>
                </a:solidFill>
                <a:latin typeface="Times New Roman"/>
                <a:ea typeface="+mj-ea"/>
                <a:cs typeface="Times New Roman"/>
              </a:rPr>
              <a:t>Hardware</a:t>
            </a:r>
            <a:r>
              <a:rPr lang="en-US" sz="4200" b="1" spc="100" dirty="0">
                <a:solidFill>
                  <a:schemeClr val="bg1"/>
                </a:solidFill>
                <a:latin typeface="Times New Roman"/>
                <a:ea typeface="+mj-ea"/>
                <a:cs typeface="Times New Roman"/>
              </a:rPr>
              <a:t> </a:t>
            </a:r>
            <a:r>
              <a:rPr lang="en-US" sz="4200" b="1" spc="100">
                <a:solidFill>
                  <a:schemeClr val="bg1"/>
                </a:solidFill>
                <a:latin typeface="Times New Roman"/>
                <a:ea typeface="+mj-ea"/>
                <a:cs typeface="Times New Roman"/>
              </a:rPr>
              <a:t>Output</a:t>
            </a:r>
          </a:p>
        </p:txBody>
      </p:sp>
      <p:grpSp>
        <p:nvGrpSpPr>
          <p:cNvPr id="5" name="Group 4">
            <a:extLst>
              <a:ext uri="{FF2B5EF4-FFF2-40B4-BE49-F238E27FC236}">
                <a16:creationId xmlns:a16="http://schemas.microsoft.com/office/drawing/2014/main" id="{029BE055-5D31-D110-1E32-DD0C2B27C01D}"/>
              </a:ext>
            </a:extLst>
          </p:cNvPr>
          <p:cNvGrpSpPr/>
          <p:nvPr/>
        </p:nvGrpSpPr>
        <p:grpSpPr>
          <a:xfrm>
            <a:off x="714021" y="1751388"/>
            <a:ext cx="3815746" cy="1684406"/>
            <a:chOff x="541493" y="1449464"/>
            <a:chExt cx="3815746" cy="1684406"/>
          </a:xfrm>
        </p:grpSpPr>
        <p:sp>
          <p:nvSpPr>
            <p:cNvPr id="3" name="Rectangle: Rounded Corners 2">
              <a:extLst>
                <a:ext uri="{FF2B5EF4-FFF2-40B4-BE49-F238E27FC236}">
                  <a16:creationId xmlns:a16="http://schemas.microsoft.com/office/drawing/2014/main" id="{CCB5556C-7DE0-DA78-8422-298175BA7C4F}"/>
                </a:ext>
              </a:extLst>
            </p:cNvPr>
            <p:cNvSpPr/>
            <p:nvPr/>
          </p:nvSpPr>
          <p:spPr>
            <a:xfrm>
              <a:off x="541493" y="1449464"/>
              <a:ext cx="3815746" cy="1684406"/>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b="1">
                <a:solidFill>
                  <a:schemeClr val="bg1"/>
                </a:solidFill>
                <a:latin typeface="Times New Roman"/>
                <a:cs typeface="Times New Roman"/>
              </a:endParaRPr>
            </a:p>
          </p:txBody>
        </p:sp>
        <p:sp>
          <p:nvSpPr>
            <p:cNvPr id="11" name="TextBox 10">
              <a:extLst>
                <a:ext uri="{FF2B5EF4-FFF2-40B4-BE49-F238E27FC236}">
                  <a16:creationId xmlns:a16="http://schemas.microsoft.com/office/drawing/2014/main" id="{2756041F-E3C8-3718-6532-9D175E7BB22A}"/>
                </a:ext>
              </a:extLst>
            </p:cNvPr>
            <p:cNvSpPr txBox="1"/>
            <p:nvPr/>
          </p:nvSpPr>
          <p:spPr>
            <a:xfrm>
              <a:off x="652133" y="1508484"/>
              <a:ext cx="3631958"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aseline="0">
                  <a:solidFill>
                    <a:schemeClr val="bg1"/>
                  </a:solidFill>
                  <a:latin typeface="Times New Roman"/>
                  <a:ea typeface="Segoe UI"/>
                  <a:cs typeface="Segoe UI"/>
                </a:rPr>
                <a:t>A few snippets </a:t>
              </a:r>
              <a:r>
                <a:rPr lang="en-US" sz="2400">
                  <a:solidFill>
                    <a:schemeClr val="bg1"/>
                  </a:solidFill>
                  <a:latin typeface="Times New Roman"/>
                  <a:ea typeface="Segoe UI"/>
                  <a:cs typeface="Segoe UI"/>
                </a:rPr>
                <a:t>from the</a:t>
              </a:r>
              <a:r>
                <a:rPr lang="en-US" sz="2400" baseline="0">
                  <a:solidFill>
                    <a:schemeClr val="bg1"/>
                  </a:solidFill>
                  <a:latin typeface="Times New Roman"/>
                  <a:ea typeface="Segoe UI"/>
                  <a:cs typeface="Segoe UI"/>
                </a:rPr>
                <a:t> Serial </a:t>
              </a:r>
              <a:r>
                <a:rPr lang="en-US" sz="2400">
                  <a:solidFill>
                    <a:schemeClr val="bg1"/>
                  </a:solidFill>
                  <a:latin typeface="Times New Roman"/>
                  <a:ea typeface="Segoe UI"/>
                  <a:cs typeface="Segoe UI"/>
                </a:rPr>
                <a:t>Monitor showing</a:t>
              </a:r>
              <a:r>
                <a:rPr lang="en-US" sz="2400" baseline="0">
                  <a:solidFill>
                    <a:schemeClr val="bg1"/>
                  </a:solidFill>
                  <a:latin typeface="Times New Roman"/>
                  <a:ea typeface="Segoe UI"/>
                  <a:cs typeface="Segoe UI"/>
                </a:rPr>
                <a:t> the </a:t>
              </a:r>
              <a:r>
                <a:rPr lang="en-US" sz="2400">
                  <a:solidFill>
                    <a:schemeClr val="bg1"/>
                  </a:solidFill>
                  <a:latin typeface="Times New Roman"/>
                  <a:ea typeface="Segoe UI"/>
                  <a:cs typeface="Segoe UI"/>
                </a:rPr>
                <a:t>output after</a:t>
              </a:r>
              <a:r>
                <a:rPr lang="en-US" sz="2400" baseline="0">
                  <a:solidFill>
                    <a:schemeClr val="bg1"/>
                  </a:solidFill>
                  <a:latin typeface="Times New Roman"/>
                  <a:ea typeface="Segoe UI"/>
                  <a:cs typeface="Segoe UI"/>
                </a:rPr>
                <a:t> testing </a:t>
              </a:r>
              <a:r>
                <a:rPr lang="en-US" sz="2400">
                  <a:solidFill>
                    <a:schemeClr val="bg1"/>
                  </a:solidFill>
                  <a:latin typeface="Times New Roman"/>
                  <a:ea typeface="Segoe UI"/>
                  <a:cs typeface="Segoe UI"/>
                </a:rPr>
                <a:t>the setup </a:t>
              </a:r>
              <a:r>
                <a:rPr lang="en-US" sz="2400" baseline="0">
                  <a:solidFill>
                    <a:schemeClr val="bg1"/>
                  </a:solidFill>
                  <a:latin typeface="Times New Roman"/>
                  <a:ea typeface="Segoe UI"/>
                  <a:cs typeface="Segoe UI"/>
                </a:rPr>
                <a:t>on </a:t>
              </a:r>
              <a:r>
                <a:rPr lang="en-US" sz="2400">
                  <a:solidFill>
                    <a:schemeClr val="bg1"/>
                  </a:solidFill>
                  <a:latin typeface="Times New Roman"/>
                  <a:ea typeface="Segoe UI"/>
                  <a:cs typeface="Segoe UI"/>
                </a:rPr>
                <a:t>a sample soil</a:t>
              </a:r>
              <a:endParaRPr lang="en-US" sz="2400">
                <a:solidFill>
                  <a:schemeClr val="bg1"/>
                </a:solidFill>
                <a:latin typeface="Times New Roman"/>
                <a:cs typeface="Times New Roman"/>
              </a:endParaRPr>
            </a:p>
          </p:txBody>
        </p:sp>
      </p:grpSp>
      <p:grpSp>
        <p:nvGrpSpPr>
          <p:cNvPr id="6" name="Group 5">
            <a:extLst>
              <a:ext uri="{FF2B5EF4-FFF2-40B4-BE49-F238E27FC236}">
                <a16:creationId xmlns:a16="http://schemas.microsoft.com/office/drawing/2014/main" id="{500FE18F-5A13-F321-EDF1-89ADB8BA2D2E}"/>
              </a:ext>
            </a:extLst>
          </p:cNvPr>
          <p:cNvGrpSpPr/>
          <p:nvPr/>
        </p:nvGrpSpPr>
        <p:grpSpPr>
          <a:xfrm>
            <a:off x="714021" y="4283330"/>
            <a:ext cx="4364984" cy="2144002"/>
            <a:chOff x="714021" y="4211443"/>
            <a:chExt cx="4364984" cy="2144002"/>
          </a:xfrm>
        </p:grpSpPr>
        <p:sp>
          <p:nvSpPr>
            <p:cNvPr id="15" name="Rectangle: Rounded Corners 14">
              <a:extLst>
                <a:ext uri="{FF2B5EF4-FFF2-40B4-BE49-F238E27FC236}">
                  <a16:creationId xmlns:a16="http://schemas.microsoft.com/office/drawing/2014/main" id="{7BC9C5AA-F455-68B1-7117-3CC68D7CCBF3}"/>
                </a:ext>
              </a:extLst>
            </p:cNvPr>
            <p:cNvSpPr/>
            <p:nvPr/>
          </p:nvSpPr>
          <p:spPr>
            <a:xfrm>
              <a:off x="714021" y="4211443"/>
              <a:ext cx="4323314" cy="2144002"/>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solidFill>
                  <a:schemeClr val="bg1"/>
                </a:solidFill>
                <a:latin typeface="Times New Roman"/>
                <a:cs typeface="Times New Roman"/>
              </a:endParaRPr>
            </a:p>
          </p:txBody>
        </p:sp>
        <p:sp>
          <p:nvSpPr>
            <p:cNvPr id="17" name="TextBox 16">
              <a:extLst>
                <a:ext uri="{FF2B5EF4-FFF2-40B4-BE49-F238E27FC236}">
                  <a16:creationId xmlns:a16="http://schemas.microsoft.com/office/drawing/2014/main" id="{7E579685-D285-B133-DD4C-8B12EB4748AD}"/>
                </a:ext>
              </a:extLst>
            </p:cNvPr>
            <p:cNvSpPr txBox="1"/>
            <p:nvPr/>
          </p:nvSpPr>
          <p:spPr>
            <a:xfrm>
              <a:off x="767151" y="4308152"/>
              <a:ext cx="4311854" cy="19533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US" sz="2400">
                  <a:solidFill>
                    <a:schemeClr val="bg1"/>
                  </a:solidFill>
                  <a:latin typeface="Times New Roman"/>
                  <a:ea typeface="Segoe UI"/>
                  <a:cs typeface="Segoe UI"/>
                </a:rPr>
                <a:t>Variation in Soil Moisture as water is being added</a:t>
              </a:r>
              <a:endParaRPr lang="en-US" sz="2400">
                <a:solidFill>
                  <a:schemeClr val="bg1"/>
                </a:solidFill>
                <a:latin typeface="Times New Roman"/>
                <a:ea typeface="Segoe UI"/>
                <a:cs typeface="Times New Roman"/>
              </a:endParaRPr>
            </a:p>
            <a:p>
              <a:pPr marL="171450" indent="-171450">
                <a:buFont typeface="Arial"/>
                <a:buChar char="•"/>
              </a:pPr>
              <a:r>
                <a:rPr lang="en-US" sz="2400">
                  <a:solidFill>
                    <a:schemeClr val="bg1"/>
                  </a:solidFill>
                  <a:latin typeface="Times New Roman"/>
                  <a:ea typeface="Segoe UI"/>
                  <a:cs typeface="Times New Roman"/>
                </a:rPr>
                <a:t>Variation </a:t>
              </a:r>
              <a:r>
                <a:rPr lang="en-US" sz="2400">
                  <a:solidFill>
                    <a:schemeClr val="bg1"/>
                  </a:solidFill>
                  <a:latin typeface="Times New Roman"/>
                  <a:ea typeface="Segoe UI"/>
                  <a:cs typeface="Segoe UI"/>
                </a:rPr>
                <a:t>in Temperature</a:t>
              </a:r>
              <a:r>
                <a:rPr lang="en-US" sz="2400" baseline="0">
                  <a:solidFill>
                    <a:schemeClr val="bg1"/>
                  </a:solidFill>
                  <a:latin typeface="Times New Roman"/>
                  <a:ea typeface="Segoe UI"/>
                  <a:cs typeface="Segoe UI"/>
                </a:rPr>
                <a:t> </a:t>
              </a:r>
              <a:r>
                <a:rPr lang="en-US" sz="2400">
                  <a:solidFill>
                    <a:schemeClr val="bg1"/>
                  </a:solidFill>
                  <a:latin typeface="Times New Roman"/>
                  <a:ea typeface="Segoe UI"/>
                  <a:cs typeface="Segoe UI"/>
                </a:rPr>
                <a:t>as dry</a:t>
              </a:r>
              <a:r>
                <a:rPr lang="en-US" sz="2400" baseline="0">
                  <a:solidFill>
                    <a:schemeClr val="bg1"/>
                  </a:solidFill>
                  <a:latin typeface="Times New Roman"/>
                  <a:ea typeface="Segoe UI"/>
                  <a:cs typeface="Segoe UI"/>
                </a:rPr>
                <a:t> soil </a:t>
              </a:r>
              <a:r>
                <a:rPr lang="en-US" sz="2400">
                  <a:solidFill>
                    <a:schemeClr val="bg1"/>
                  </a:solidFill>
                  <a:latin typeface="Times New Roman"/>
                  <a:ea typeface="Segoe UI"/>
                  <a:cs typeface="Segoe UI"/>
                </a:rPr>
                <a:t>is being moisturized</a:t>
              </a:r>
            </a:p>
            <a:p>
              <a:pPr marL="171450" indent="-171450">
                <a:buFont typeface="Arial"/>
                <a:buChar char="•"/>
              </a:pPr>
              <a:r>
                <a:rPr lang="en-US" sz="2400">
                  <a:solidFill>
                    <a:schemeClr val="bg1"/>
                  </a:solidFill>
                  <a:latin typeface="Times New Roman"/>
                  <a:cs typeface="Segoe UI"/>
                </a:rPr>
                <a:t>Slight variations in NPK values</a:t>
              </a:r>
            </a:p>
          </p:txBody>
        </p:sp>
      </p:grpSp>
      <p:pic>
        <p:nvPicPr>
          <p:cNvPr id="10" name="Picture 9" descr="A screen shot of a computer&#10;&#10;AI-generated content may be incorrect.">
            <a:extLst>
              <a:ext uri="{FF2B5EF4-FFF2-40B4-BE49-F238E27FC236}">
                <a16:creationId xmlns:a16="http://schemas.microsoft.com/office/drawing/2014/main" id="{333A63BE-E59F-A83E-33D9-0E1A369CE658}"/>
              </a:ext>
            </a:extLst>
          </p:cNvPr>
          <p:cNvPicPr>
            <a:picLocks noChangeAspect="1"/>
          </p:cNvPicPr>
          <p:nvPr/>
        </p:nvPicPr>
        <p:blipFill>
          <a:blip r:embed="rId2"/>
          <a:stretch>
            <a:fillRect/>
          </a:stretch>
        </p:blipFill>
        <p:spPr>
          <a:xfrm>
            <a:off x="4868079" y="1466479"/>
            <a:ext cx="2752725" cy="2381250"/>
          </a:xfrm>
          <a:prstGeom prst="rect">
            <a:avLst/>
          </a:prstGeom>
        </p:spPr>
      </p:pic>
      <p:pic>
        <p:nvPicPr>
          <p:cNvPr id="14" name="Picture 13" descr="A computer screen with white text&#10;&#10;AI-generated content may be incorrect.">
            <a:extLst>
              <a:ext uri="{FF2B5EF4-FFF2-40B4-BE49-F238E27FC236}">
                <a16:creationId xmlns:a16="http://schemas.microsoft.com/office/drawing/2014/main" id="{AF6ECFA0-F4B5-4821-73E6-931EC46A157F}"/>
              </a:ext>
            </a:extLst>
          </p:cNvPr>
          <p:cNvPicPr>
            <a:picLocks noChangeAspect="1"/>
          </p:cNvPicPr>
          <p:nvPr/>
        </p:nvPicPr>
        <p:blipFill>
          <a:blip r:embed="rId3"/>
          <a:stretch>
            <a:fillRect/>
          </a:stretch>
        </p:blipFill>
        <p:spPr>
          <a:xfrm>
            <a:off x="7786378" y="1447058"/>
            <a:ext cx="2952750" cy="2400300"/>
          </a:xfrm>
          <a:prstGeom prst="rect">
            <a:avLst/>
          </a:prstGeom>
        </p:spPr>
      </p:pic>
      <p:pic>
        <p:nvPicPr>
          <p:cNvPr id="16" name="Picture 15" descr="A screen shot of a computer&#10;&#10;AI-generated content may be incorrect.">
            <a:extLst>
              <a:ext uri="{FF2B5EF4-FFF2-40B4-BE49-F238E27FC236}">
                <a16:creationId xmlns:a16="http://schemas.microsoft.com/office/drawing/2014/main" id="{3A8862F5-DDFD-C98D-0170-1BC9995B3556}"/>
              </a:ext>
            </a:extLst>
          </p:cNvPr>
          <p:cNvPicPr>
            <a:picLocks noChangeAspect="1"/>
          </p:cNvPicPr>
          <p:nvPr/>
        </p:nvPicPr>
        <p:blipFill>
          <a:blip r:embed="rId4"/>
          <a:stretch>
            <a:fillRect/>
          </a:stretch>
        </p:blipFill>
        <p:spPr>
          <a:xfrm>
            <a:off x="6510832" y="4206591"/>
            <a:ext cx="2752725" cy="2286000"/>
          </a:xfrm>
          <a:prstGeom prst="rect">
            <a:avLst/>
          </a:prstGeom>
        </p:spPr>
      </p:pic>
      <p:sp>
        <p:nvSpPr>
          <p:cNvPr id="2" name="Rectangle 1">
            <a:extLst>
              <a:ext uri="{FF2B5EF4-FFF2-40B4-BE49-F238E27FC236}">
                <a16:creationId xmlns:a16="http://schemas.microsoft.com/office/drawing/2014/main" id="{0EDCB035-35A4-697C-9990-EAED8BB9E31F}"/>
              </a:ext>
            </a:extLst>
          </p:cNvPr>
          <p:cNvSpPr/>
          <p:nvPr/>
        </p:nvSpPr>
        <p:spPr>
          <a:xfrm>
            <a:off x="6265333" y="3892110"/>
            <a:ext cx="2336800" cy="135466"/>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28700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8540" y="2082648"/>
            <a:ext cx="8523086" cy="1862048"/>
          </a:xfrm>
          <a:prstGeom prst="rect">
            <a:avLst/>
          </a:prstGeom>
          <a:noFill/>
        </p:spPr>
        <p:txBody>
          <a:bodyPr wrap="square" lIns="91440" tIns="45720" rIns="91440" bIns="45720" anchor="t">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11500" b="1">
                <a:ln/>
                <a:solidFill>
                  <a:schemeClr val="accent3"/>
                </a:solidFill>
                <a:latin typeface="Times New Roman"/>
                <a:cs typeface="Times New Roman"/>
              </a:rPr>
              <a:t>Thank You</a:t>
            </a:r>
          </a:p>
        </p:txBody>
      </p:sp>
    </p:spTree>
    <p:extLst>
      <p:ext uri="{BB962C8B-B14F-4D97-AF65-F5344CB8AC3E}">
        <p14:creationId xmlns:p14="http://schemas.microsoft.com/office/powerpoint/2010/main" val="3182091864"/>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Geometric annual presentation</Template>
  <Application>Microsoft Office PowerPoint</Application>
  <PresentationFormat>Widescreen</PresentationFormat>
  <Slides>15</Slides>
  <Notes>1</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Custom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upayanchk2024@outlook.com</dc:creator>
  <cp:revision>428</cp:revision>
  <dcterms:created xsi:type="dcterms:W3CDTF">2025-05-03T18:27:23Z</dcterms:created>
  <dcterms:modified xsi:type="dcterms:W3CDTF">2026-05-07T21:03:32Z</dcterms:modified>
</cp:coreProperties>
</file>