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68" r:id="rId2"/>
    <p:sldId id="261" r:id="rId3"/>
    <p:sldId id="267" r:id="rId4"/>
    <p:sldId id="260" r:id="rId5"/>
    <p:sldId id="272" r:id="rId6"/>
    <p:sldId id="275" r:id="rId7"/>
    <p:sldId id="271" r:id="rId8"/>
    <p:sldId id="270" r:id="rId9"/>
    <p:sldId id="273" r:id="rId10"/>
    <p:sldId id="276" r:id="rId11"/>
    <p:sldId id="277"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498012-AD2E-5CD4-9AFD-E4A2CF8E7011}" name="Upayan Chakraborty" initials="UC" userId="be5c52729676a5eb" providerId="Windows Live"/>
  <p188:author id="{95582667-6102-27E7-ED8E-01A166EB4B6B}" name="Guest User" initials="GU" userId="Guest User"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B5A612-44E9-E7D4-995A-ED1B5A0C5094}" v="195" dt="2025-11-19T15:28:02.0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94660"/>
  </p:normalViewPr>
  <p:slideViewPr>
    <p:cSldViewPr snapToGrid="0">
      <p:cViewPr>
        <p:scale>
          <a:sx n="75" d="100"/>
          <a:sy n="75" d="100"/>
        </p:scale>
        <p:origin x="93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037F7-5013-4070-8D28-E6CABC0009FB}"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1B024D-9462-47FE-8481-B552A8102AA6}" type="slidenum">
              <a:rPr lang="en-US" smtClean="0"/>
              <a:t>‹#›</a:t>
            </a:fld>
            <a:endParaRPr lang="en-US"/>
          </a:p>
        </p:txBody>
      </p:sp>
    </p:spTree>
    <p:extLst>
      <p:ext uri="{BB962C8B-B14F-4D97-AF65-F5344CB8AC3E}">
        <p14:creationId xmlns:p14="http://schemas.microsoft.com/office/powerpoint/2010/main" val="2637710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1B024D-9462-47FE-8481-B552A8102AA6}" type="slidenum">
              <a:rPr lang="en-US" smtClean="0"/>
              <a:t>8</a:t>
            </a:fld>
            <a:endParaRPr lang="en-US"/>
          </a:p>
        </p:txBody>
      </p:sp>
    </p:spTree>
    <p:extLst>
      <p:ext uri="{BB962C8B-B14F-4D97-AF65-F5344CB8AC3E}">
        <p14:creationId xmlns:p14="http://schemas.microsoft.com/office/powerpoint/2010/main" val="553594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84003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3F0F8196-D538-4A77-ACAB-A34D64651568}" type="slidenum">
              <a:rPr lang="en-IN" smtClean="0"/>
              <a:t>‹#›</a:t>
            </a:fld>
            <a:endParaRPr lang="en-IN"/>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fld id="{6D64C46B-9EFB-4DDF-A729-B75A78126272}" type="datetimeFigureOut">
              <a:rPr lang="en-IN" smtClean="0"/>
              <a:t>19-11-2025</a:t>
            </a:fld>
            <a:endParaRPr lang="en-IN"/>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99309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8637764"/>
      </p:ext>
    </p:extLst>
  </p:cSld>
  <p:clrMapOvr>
    <a:masterClrMapping/>
  </p:clrMapOvr>
  <p:extLst>
    <p:ext uri="{DCECCB84-F9BA-43D5-87BE-67443E8EF086}">
      <p15:sldGuideLst xmlns:p15="http://schemas.microsoft.com/office/powerpoint/2012/main">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12357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3F0F8196-D538-4A77-ACAB-A34D64651568}" type="slidenum">
              <a:rPr lang="en-IN" smtClean="0"/>
              <a:t>‹#›</a:t>
            </a:fld>
            <a:endParaRPr lang="en-IN"/>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fld id="{6D64C46B-9EFB-4DDF-A729-B75A78126272}" type="datetimeFigureOut">
              <a:rPr lang="en-IN" smtClean="0"/>
              <a:t>19-11-2025</a:t>
            </a:fld>
            <a:endParaRPr lang="en-IN"/>
          </a:p>
        </p:txBody>
      </p:sp>
    </p:spTree>
    <p:extLst>
      <p:ext uri="{BB962C8B-B14F-4D97-AF65-F5344CB8AC3E}">
        <p14:creationId xmlns:p14="http://schemas.microsoft.com/office/powerpoint/2010/main" val="3716817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spTree>
    <p:extLst>
      <p:ext uri="{BB962C8B-B14F-4D97-AF65-F5344CB8AC3E}">
        <p14:creationId xmlns:p14="http://schemas.microsoft.com/office/powerpoint/2010/main" val="4071583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19-11-2025</a:t>
            </a:fld>
            <a:endParaRPr lang="en-IN"/>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7980322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a:t>Click to add content</a:t>
            </a:r>
          </a:p>
          <a:p>
            <a:pPr lvl="1"/>
            <a:r>
              <a:rPr lang="en-US"/>
              <a:t>Second level</a:t>
            </a:r>
          </a:p>
          <a:p>
            <a:pPr lvl="2"/>
            <a:r>
              <a:rPr lang="en-US"/>
              <a:t>Third level</a:t>
            </a:r>
          </a:p>
          <a:p>
            <a:pPr lvl="3"/>
            <a:endParaRPr lang="en-US"/>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19-11-2025</a:t>
            </a:fld>
            <a:endParaRPr lang="en-IN"/>
          </a:p>
        </p:txBody>
      </p:sp>
    </p:spTree>
    <p:extLst>
      <p:ext uri="{BB962C8B-B14F-4D97-AF65-F5344CB8AC3E}">
        <p14:creationId xmlns:p14="http://schemas.microsoft.com/office/powerpoint/2010/main" val="27811921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19-11-2025</a:t>
            </a:fld>
            <a:endParaRPr lang="en-IN"/>
          </a:p>
        </p:txBody>
      </p:sp>
    </p:spTree>
    <p:extLst>
      <p:ext uri="{BB962C8B-B14F-4D97-AF65-F5344CB8AC3E}">
        <p14:creationId xmlns:p14="http://schemas.microsoft.com/office/powerpoint/2010/main" val="26108890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19-11-2025</a:t>
            </a:fld>
            <a:endParaRPr lang="en-IN"/>
          </a:p>
        </p:txBody>
      </p:sp>
    </p:spTree>
    <p:extLst>
      <p:ext uri="{BB962C8B-B14F-4D97-AF65-F5344CB8AC3E}">
        <p14:creationId xmlns:p14="http://schemas.microsoft.com/office/powerpoint/2010/main" val="201906669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19-11-2025</a:t>
            </a:fld>
            <a:endParaRPr lang="en-IN"/>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Tree>
    <p:extLst>
      <p:ext uri="{BB962C8B-B14F-4D97-AF65-F5344CB8AC3E}">
        <p14:creationId xmlns:p14="http://schemas.microsoft.com/office/powerpoint/2010/main" val="159076647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19-11-2025</a:t>
            </a:fld>
            <a:endParaRPr lang="en-IN"/>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83799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85716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fld id="{6D64C46B-9EFB-4DDF-A729-B75A78126272}" type="datetimeFigureOut">
              <a:rPr lang="en-IN" smtClean="0"/>
              <a:t>19-11-2025</a:t>
            </a:fld>
            <a:endParaRPr lang="en-IN"/>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3F0F8196-D538-4A77-ACAB-A34D64651568}" type="slidenum">
              <a:rPr lang="en-IN" smtClean="0"/>
              <a:t>‹#›</a:t>
            </a:fld>
            <a:endParaRPr lang="en-IN"/>
          </a:p>
        </p:txBody>
      </p:sp>
    </p:spTree>
    <p:extLst>
      <p:ext uri="{BB962C8B-B14F-4D97-AF65-F5344CB8AC3E}">
        <p14:creationId xmlns:p14="http://schemas.microsoft.com/office/powerpoint/2010/main" val="315961919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2E227-CE1A-68C2-A9A2-4C7AEE1390EF}"/>
              </a:ext>
            </a:extLst>
          </p:cNvPr>
          <p:cNvSpPr txBox="1">
            <a:spLocks/>
          </p:cNvSpPr>
          <p:nvPr/>
        </p:nvSpPr>
        <p:spPr>
          <a:xfrm>
            <a:off x="1" y="244699"/>
            <a:ext cx="12192000" cy="1627729"/>
          </a:xfrm>
          <a:prstGeom prst="rect">
            <a:avLst/>
          </a:prstGeom>
          <a:gradFill flip="none" rotWithShape="1">
            <a:gsLst>
              <a:gs pos="0">
                <a:schemeClr val="accent1">
                  <a:tint val="66000"/>
                  <a:satMod val="160000"/>
                </a:schemeClr>
              </a:gs>
              <a:gs pos="50000">
                <a:schemeClr val="accent1">
                  <a:tint val="44500"/>
                  <a:satMod val="160000"/>
                </a:schemeClr>
              </a:gs>
              <a:gs pos="95000">
                <a:schemeClr val="accent1">
                  <a:tint val="23500"/>
                  <a:satMod val="160000"/>
                  <a:alpha val="82000"/>
                </a:schemeClr>
              </a:gs>
            </a:gsLst>
            <a:lin ang="7800000" scaled="0"/>
            <a:tileRect/>
          </a:gradFill>
          <a:ln w="9525">
            <a:noFill/>
          </a:ln>
        </p:spPr>
        <p:txBody>
          <a:bodyPr lIns="91440" tIns="45720" rIns="91440" bIns="4572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5000" b="1" dirty="0" err="1">
                <a:solidFill>
                  <a:sysClr val="windowText" lastClr="000000"/>
                </a:solidFill>
                <a:effectLst>
                  <a:outerShdw blurRad="38100" dist="38100" dir="2700000" algn="tl">
                    <a:srgbClr val="000000">
                      <a:alpha val="43137"/>
                    </a:srgbClr>
                  </a:outerShdw>
                </a:effectLst>
                <a:latin typeface="Times New Roman"/>
                <a:cs typeface="Times New Roman"/>
              </a:rPr>
              <a:t>AgroCare</a:t>
            </a:r>
            <a:r>
              <a:rPr lang="en-US" altLang="en-US" sz="5000" b="1" dirty="0">
                <a:solidFill>
                  <a:sysClr val="windowText" lastClr="000000"/>
                </a:solidFill>
                <a:effectLst>
                  <a:outerShdw blurRad="38100" dist="38100" dir="2700000" algn="tl">
                    <a:srgbClr val="000000">
                      <a:alpha val="43137"/>
                    </a:srgbClr>
                  </a:outerShdw>
                </a:effectLst>
                <a:latin typeface="Times New Roman"/>
                <a:cs typeface="Times New Roman"/>
              </a:rPr>
              <a:t>: Plant Disease Detection &amp; Crop Recommendation System</a:t>
            </a:r>
          </a:p>
        </p:txBody>
      </p:sp>
      <p:sp>
        <p:nvSpPr>
          <p:cNvPr id="3" name="Subtitle 2">
            <a:extLst>
              <a:ext uri="{FF2B5EF4-FFF2-40B4-BE49-F238E27FC236}">
                <a16:creationId xmlns:a16="http://schemas.microsoft.com/office/drawing/2014/main" id="{49C28B29-0B56-8AF4-DBD8-D99E5A82DAA4}"/>
              </a:ext>
            </a:extLst>
          </p:cNvPr>
          <p:cNvSpPr txBox="1">
            <a:spLocks/>
          </p:cNvSpPr>
          <p:nvPr/>
        </p:nvSpPr>
        <p:spPr>
          <a:xfrm>
            <a:off x="3244970" y="3761118"/>
            <a:ext cx="5641100" cy="2679655"/>
          </a:xfrm>
          <a:prstGeom prst="rect">
            <a:avLst/>
          </a:prstGeom>
          <a:gradFill flip="none" rotWithShape="1">
            <a:gsLst>
              <a:gs pos="0">
                <a:schemeClr val="accent1">
                  <a:tint val="66000"/>
                  <a:satMod val="160000"/>
                  <a:alpha val="42000"/>
                </a:schemeClr>
              </a:gs>
              <a:gs pos="36000">
                <a:schemeClr val="accent1">
                  <a:tint val="44500"/>
                  <a:satMod val="160000"/>
                </a:schemeClr>
              </a:gs>
              <a:gs pos="100000">
                <a:schemeClr val="accent1">
                  <a:tint val="23500"/>
                  <a:satMod val="160000"/>
                </a:schemeClr>
              </a:gs>
            </a:gsLst>
            <a:lin ang="0" scaled="0"/>
            <a:tileRect/>
          </a:gradFill>
          <a:ln w="9525">
            <a:noFill/>
          </a:ln>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buNone/>
            </a:pPr>
            <a:r>
              <a:rPr lang="en-US" altLang="en-IN" sz="2400" dirty="0">
                <a:solidFill>
                  <a:sysClr val="windowText" lastClr="000000"/>
                </a:solidFill>
                <a:latin typeface="Times New Roman" panose="02020603050405020304" pitchFamily="18" charset="0"/>
                <a:cs typeface="Times New Roman" panose="02020603050405020304" pitchFamily="18" charset="0"/>
              </a:rPr>
              <a:t>Presented by:</a:t>
            </a:r>
          </a:p>
          <a:p>
            <a:pPr algn="ctr"/>
            <a:r>
              <a:rPr lang="en-US" altLang="en-US" sz="2500" dirty="0">
                <a:solidFill>
                  <a:sysClr val="windowText" lastClr="000000"/>
                </a:solidFill>
                <a:latin typeface="Times New Roman" panose="02020603050405020304" pitchFamily="18" charset="0"/>
                <a:cs typeface="Times New Roman" panose="02020603050405020304" pitchFamily="18" charset="0"/>
              </a:rPr>
              <a:t>Upayan Chakraborty (11600222134)</a:t>
            </a:r>
            <a:endParaRPr lang="en-US" sz="2500" dirty="0">
              <a:latin typeface="Times New Roman" panose="02020603050405020304" pitchFamily="18" charset="0"/>
              <a:cs typeface="Times New Roman" panose="02020603050405020304" pitchFamily="18" charset="0"/>
            </a:endParaRPr>
          </a:p>
          <a:p>
            <a:pPr marL="0" indent="0" algn="ctr">
              <a:buNone/>
            </a:pPr>
            <a:r>
              <a:rPr lang="en-US" altLang="en-US" sz="2500" dirty="0">
                <a:solidFill>
                  <a:sysClr val="windowText" lastClr="000000"/>
                </a:solidFill>
                <a:latin typeface="Times New Roman" panose="02020603050405020304" pitchFamily="18" charset="0"/>
                <a:cs typeface="Times New Roman" panose="02020603050405020304" pitchFamily="18" charset="0"/>
              </a:rPr>
              <a:t>Prerana Maiti (11600222070)</a:t>
            </a:r>
          </a:p>
          <a:p>
            <a:pPr marL="0" indent="0" algn="ctr">
              <a:buNone/>
            </a:pPr>
            <a:r>
              <a:rPr lang="en-US" altLang="en-US" sz="2500" dirty="0" err="1">
                <a:solidFill>
                  <a:sysClr val="windowText" lastClr="000000"/>
                </a:solidFill>
                <a:latin typeface="Times New Roman" panose="02020603050405020304" pitchFamily="18" charset="0"/>
                <a:cs typeface="Times New Roman" panose="02020603050405020304" pitchFamily="18" charset="0"/>
              </a:rPr>
              <a:t>Mrigangana</a:t>
            </a:r>
            <a:r>
              <a:rPr lang="en-US" altLang="en-US" sz="2500" dirty="0">
                <a:solidFill>
                  <a:sysClr val="windowText" lastClr="000000"/>
                </a:solidFill>
                <a:latin typeface="Times New Roman" panose="02020603050405020304" pitchFamily="18" charset="0"/>
                <a:cs typeface="Times New Roman" panose="02020603050405020304" pitchFamily="18" charset="0"/>
              </a:rPr>
              <a:t> Sarkar (11600222062)</a:t>
            </a:r>
          </a:p>
          <a:p>
            <a:pPr marL="0" indent="0" algn="ctr">
              <a:buNone/>
            </a:pPr>
            <a:r>
              <a:rPr lang="en-US" altLang="en-US" sz="2500" dirty="0">
                <a:solidFill>
                  <a:sysClr val="windowText" lastClr="000000"/>
                </a:solidFill>
                <a:latin typeface="Times New Roman" panose="02020603050405020304" pitchFamily="18" charset="0"/>
                <a:cs typeface="Times New Roman" panose="02020603050405020304" pitchFamily="18" charset="0"/>
              </a:rPr>
              <a:t>Sandipan Rakshit (11600222092)</a:t>
            </a:r>
          </a:p>
          <a:p>
            <a:pPr marL="0" indent="0" algn="ctr">
              <a:buNone/>
            </a:pPr>
            <a:r>
              <a:rPr lang="en-US" altLang="en-US" sz="2500" dirty="0">
                <a:solidFill>
                  <a:sysClr val="windowText" lastClr="000000"/>
                </a:solidFill>
                <a:latin typeface="Times New Roman" panose="02020603050405020304" pitchFamily="18" charset="0"/>
                <a:cs typeface="Times New Roman" panose="02020603050405020304" pitchFamily="18" charset="0"/>
              </a:rPr>
              <a:t>Souvik Ghosh (11600222117)</a:t>
            </a:r>
          </a:p>
        </p:txBody>
      </p:sp>
      <p:sp>
        <p:nvSpPr>
          <p:cNvPr id="4" name="TextBox 1">
            <a:extLst>
              <a:ext uri="{FF2B5EF4-FFF2-40B4-BE49-F238E27FC236}">
                <a16:creationId xmlns:a16="http://schemas.microsoft.com/office/drawing/2014/main" id="{C754C035-3D60-9A95-4936-EFE32332C291}"/>
              </a:ext>
            </a:extLst>
          </p:cNvPr>
          <p:cNvSpPr txBox="1"/>
          <p:nvPr/>
        </p:nvSpPr>
        <p:spPr>
          <a:xfrm>
            <a:off x="1085227" y="2055532"/>
            <a:ext cx="9885872" cy="150810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000" dirty="0">
                <a:ln w="0"/>
                <a:solidFill>
                  <a:schemeClr val="bg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Under the Guidance </a:t>
            </a:r>
          </a:p>
          <a:p>
            <a:pPr algn="ctr"/>
            <a:r>
              <a:rPr lang="en-IN" sz="2000" dirty="0">
                <a:ln w="0"/>
                <a:solidFill>
                  <a:schemeClr val="bg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of </a:t>
            </a:r>
          </a:p>
          <a:p>
            <a:pPr algn="ctr"/>
            <a:r>
              <a:rPr lang="en-IN" sz="3200" b="1" dirty="0">
                <a:ln w="0"/>
                <a:solidFill>
                  <a:schemeClr val="bg1"/>
                </a:solidFill>
                <a:latin typeface="Times New Roman" panose="02020603050405020304" pitchFamily="18" charset="0"/>
                <a:cs typeface="Times New Roman" panose="02020603050405020304" pitchFamily="18" charset="0"/>
              </a:rPr>
              <a:t>Prof. (Dr.) S. S. Thakur</a:t>
            </a:r>
          </a:p>
          <a:p>
            <a:pPr algn="ctr"/>
            <a:r>
              <a:rPr lang="en-IN" sz="2000" dirty="0">
                <a:ln w="0"/>
                <a:solidFill>
                  <a:schemeClr val="bg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Professor, Dept. of CSE</a:t>
            </a:r>
          </a:p>
        </p:txBody>
      </p:sp>
    </p:spTree>
    <p:extLst>
      <p:ext uri="{BB962C8B-B14F-4D97-AF65-F5344CB8AC3E}">
        <p14:creationId xmlns:p14="http://schemas.microsoft.com/office/powerpoint/2010/main" val="80998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8C735-EC43-2751-2D4C-99E9E8FB7A84}"/>
              </a:ext>
            </a:extLst>
          </p:cNvPr>
          <p:cNvSpPr txBox="1">
            <a:spLocks/>
          </p:cNvSpPr>
          <p:nvPr/>
        </p:nvSpPr>
        <p:spPr>
          <a:xfrm>
            <a:off x="838200" y="472356"/>
            <a:ext cx="10515600" cy="717585"/>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5000">
                <a:latin typeface="Times New Roman"/>
                <a:cs typeface="Times New Roman"/>
              </a:rPr>
              <a:t>Acknowledgement</a:t>
            </a:r>
          </a:p>
        </p:txBody>
      </p:sp>
      <p:sp>
        <p:nvSpPr>
          <p:cNvPr id="3" name="Content Placeholder 2">
            <a:extLst>
              <a:ext uri="{FF2B5EF4-FFF2-40B4-BE49-F238E27FC236}">
                <a16:creationId xmlns:a16="http://schemas.microsoft.com/office/drawing/2014/main" id="{D8167541-4848-03C0-6771-841F68B183EB}"/>
              </a:ext>
            </a:extLst>
          </p:cNvPr>
          <p:cNvSpPr txBox="1">
            <a:spLocks/>
          </p:cNvSpPr>
          <p:nvPr/>
        </p:nvSpPr>
        <p:spPr>
          <a:xfrm>
            <a:off x="534839" y="1480485"/>
            <a:ext cx="11110822" cy="4432894"/>
          </a:xfrm>
          <a:prstGeom prst="rect">
            <a:avLst/>
          </a:prstGeom>
          <a:gradFill flip="none" rotWithShape="1">
            <a:gsLst>
              <a:gs pos="0">
                <a:schemeClr val="accent1">
                  <a:tint val="66000"/>
                  <a:satMod val="160000"/>
                </a:schemeClr>
              </a:gs>
              <a:gs pos="50000">
                <a:schemeClr val="accent1">
                  <a:tint val="44500"/>
                  <a:satMod val="160000"/>
                </a:schemeClr>
              </a:gs>
              <a:gs pos="89000">
                <a:schemeClr val="accent1">
                  <a:tint val="23500"/>
                  <a:satMod val="160000"/>
                  <a:alpha val="80000"/>
                </a:schemeClr>
              </a:gs>
            </a:gsLst>
            <a:lin ang="8400000" scaled="0"/>
            <a:tileRect/>
          </a:gradFill>
        </p:spPr>
        <p:txBody>
          <a:bodyPr lIns="91440" tIns="45720" rIns="91440" bIns="45720" anchor="t">
            <a:noAutofit/>
          </a:bodyPr>
          <a:lst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en-US" sz="2000" dirty="0">
                <a:latin typeface="Times New Roman"/>
                <a:cs typeface="Times New Roman"/>
              </a:rPr>
              <a:t>We sincerely thank everyone who contributed to our ongoing project, "</a:t>
            </a:r>
            <a:r>
              <a:rPr lang="en-US" altLang="en-US" sz="2000" dirty="0" err="1">
                <a:latin typeface="Times New Roman"/>
                <a:cs typeface="Times New Roman"/>
              </a:rPr>
              <a:t>AgroCare</a:t>
            </a:r>
            <a:r>
              <a:rPr lang="en-US" altLang="en-US" sz="2000" dirty="0">
                <a:latin typeface="Times New Roman"/>
                <a:cs typeface="Times New Roman"/>
              </a:rPr>
              <a:t>: Plant disease detection &amp; Crop Recommendation System".</a:t>
            </a:r>
            <a:endParaRPr lang="en-US" dirty="0"/>
          </a:p>
          <a:p>
            <a:pPr marL="0" indent="0">
              <a:lnSpc>
                <a:spcPct val="100000"/>
              </a:lnSpc>
              <a:buFont typeface="Arial" panose="020B0604020202020204" pitchFamily="34" charset="0"/>
              <a:buNone/>
            </a:pPr>
            <a:r>
              <a:rPr lang="en-US" altLang="en-US" sz="2000" dirty="0">
                <a:latin typeface="Times New Roman"/>
                <a:cs typeface="Times New Roman"/>
              </a:rPr>
              <a:t>Our deepest gratitude goes to our guide, Prof. Dr. S. S. Thakur, for his invaluable guidance and support. We also extend heartfelt thanks to Mr. Avijit Bose and Mr. Sumit Majumdar for their continuous support and facilitating our research.</a:t>
            </a:r>
          </a:p>
          <a:p>
            <a:pPr marL="0" indent="0">
              <a:lnSpc>
                <a:spcPct val="100000"/>
              </a:lnSpc>
              <a:buNone/>
            </a:pPr>
            <a:r>
              <a:rPr lang="en-US" altLang="en-US" sz="2000" dirty="0">
                <a:latin typeface="Times New Roman"/>
                <a:cs typeface="Times New Roman"/>
              </a:rPr>
              <a:t>We are grateful to all faculty members of the CSE Department at MCKV Institute of Engineering for their assistance and resources. </a:t>
            </a:r>
          </a:p>
          <a:p>
            <a:pPr marL="0" indent="0">
              <a:lnSpc>
                <a:spcPct val="100000"/>
              </a:lnSpc>
              <a:buNone/>
            </a:pPr>
            <a:r>
              <a:rPr lang="en-US" sz="2000" dirty="0">
                <a:latin typeface="Times New Roman"/>
                <a:cs typeface="Times New Roman"/>
              </a:rPr>
              <a:t>We are greatly indebted to Mr. Arijit Sen for his guidance and assistance in the hardware section of our project.</a:t>
            </a:r>
            <a:endParaRPr lang="en-US" altLang="en-US" sz="2000" dirty="0">
              <a:latin typeface="Times New Roman"/>
              <a:cs typeface="Times New Roman"/>
            </a:endParaRPr>
          </a:p>
          <a:p>
            <a:pPr marL="0" indent="0">
              <a:lnSpc>
                <a:spcPct val="100000"/>
              </a:lnSpc>
              <a:buFont typeface="Arial" panose="020B0604020202020204" pitchFamily="34" charset="0"/>
              <a:buNone/>
            </a:pPr>
            <a:r>
              <a:rPr lang="en-US" altLang="en-US" sz="2000" dirty="0">
                <a:latin typeface="Times New Roman"/>
                <a:cs typeface="Times New Roman"/>
              </a:rPr>
              <a:t>We are grateful to our peers for their feedback and collaboration.</a:t>
            </a:r>
          </a:p>
          <a:p>
            <a:pPr marL="0" indent="0">
              <a:lnSpc>
                <a:spcPct val="100000"/>
              </a:lnSpc>
              <a:buFont typeface="Arial" panose="020B0604020202020204" pitchFamily="34" charset="0"/>
              <a:buNone/>
            </a:pPr>
            <a:r>
              <a:rPr lang="en-US" altLang="en-US" sz="2000" dirty="0">
                <a:latin typeface="Times New Roman"/>
                <a:cs typeface="Times New Roman"/>
              </a:rPr>
              <a:t>Finally, we deeply appreciate the unwavering support, patience, and motivation from our friends and families.</a:t>
            </a:r>
          </a:p>
        </p:txBody>
      </p:sp>
    </p:spTree>
    <p:extLst>
      <p:ext uri="{BB962C8B-B14F-4D97-AF65-F5344CB8AC3E}">
        <p14:creationId xmlns:p14="http://schemas.microsoft.com/office/powerpoint/2010/main" val="1290104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09599" y="324802"/>
            <a:ext cx="10972800" cy="726386"/>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5000">
                <a:latin typeface="Times New Roman"/>
                <a:cs typeface="Times New Roman"/>
              </a:rPr>
              <a:t>Contents</a:t>
            </a:r>
          </a:p>
        </p:txBody>
      </p:sp>
      <p:sp>
        <p:nvSpPr>
          <p:cNvPr id="4" name="TextBox 3"/>
          <p:cNvSpPr txBox="1"/>
          <p:nvPr/>
        </p:nvSpPr>
        <p:spPr>
          <a:xfrm>
            <a:off x="1008332" y="1713282"/>
            <a:ext cx="10160805" cy="3785652"/>
          </a:xfrm>
          <a:prstGeom prst="rect">
            <a:avLst/>
          </a:prstGeom>
          <a:gradFill flip="none" rotWithShape="1">
            <a:gsLst>
              <a:gs pos="4000">
                <a:schemeClr val="accent1">
                  <a:tint val="66000"/>
                  <a:satMod val="160000"/>
                </a:schemeClr>
              </a:gs>
              <a:gs pos="30000">
                <a:schemeClr val="accent1">
                  <a:tint val="44500"/>
                  <a:satMod val="160000"/>
                </a:schemeClr>
              </a:gs>
              <a:gs pos="38000">
                <a:schemeClr val="accent1">
                  <a:tint val="23500"/>
                  <a:satMod val="160000"/>
                  <a:alpha val="92000"/>
                </a:schemeClr>
              </a:gs>
            </a:gsLst>
            <a:lin ang="7800000" scaled="0"/>
            <a:tileRect/>
          </a:gradFill>
        </p:spPr>
        <p:txBody>
          <a:bodyPr wrap="square" lIns="91440" tIns="45720" rIns="91440" bIns="45720" rtlCol="0" anchor="t">
            <a:spAutoFit/>
          </a:bodyPr>
          <a:lstStyle/>
          <a:p>
            <a:pPr marL="457200" indent="-457200">
              <a:buFont typeface="Wingdings" panose="05000000000000000000" pitchFamily="2" charset="2"/>
              <a:buChar char="Ø"/>
            </a:pPr>
            <a:r>
              <a:rPr lang="en-US" sz="3000" dirty="0">
                <a:solidFill>
                  <a:schemeClr val="bg1"/>
                </a:solidFill>
                <a:latin typeface="Times New Roman"/>
                <a:cs typeface="Times New Roman"/>
              </a:rPr>
              <a:t>Introduction</a:t>
            </a:r>
            <a:endParaRPr lang="en-US" sz="3000" dirty="0">
              <a:solidFill>
                <a:schemeClr val="bg1"/>
              </a:solidFill>
            </a:endParaRPr>
          </a:p>
          <a:p>
            <a:pPr marL="457200" indent="-457200">
              <a:buFont typeface="Wingdings" panose="05000000000000000000" pitchFamily="2" charset="2"/>
              <a:buChar char="Ø"/>
            </a:pPr>
            <a:r>
              <a:rPr lang="en-US" sz="3000" dirty="0">
                <a:solidFill>
                  <a:schemeClr val="bg1"/>
                </a:solidFill>
                <a:latin typeface="Times New Roman"/>
                <a:cs typeface="Times New Roman"/>
              </a:rPr>
              <a:t>Crop Recommendation System Workflow</a:t>
            </a:r>
          </a:p>
          <a:p>
            <a:pPr marL="457200" indent="-457200">
              <a:buFont typeface="Wingdings" panose="05000000000000000000" pitchFamily="2" charset="2"/>
              <a:buChar char="Ø"/>
            </a:pPr>
            <a:r>
              <a:rPr lang="en-US" sz="3000" dirty="0">
                <a:solidFill>
                  <a:schemeClr val="bg1"/>
                </a:solidFill>
                <a:latin typeface="Times New Roman"/>
                <a:cs typeface="Times New Roman"/>
              </a:rPr>
              <a:t>OpenWeatherMap API Integration</a:t>
            </a:r>
          </a:p>
          <a:p>
            <a:pPr marL="457200" indent="-457200">
              <a:buFont typeface="Wingdings" panose="05000000000000000000" pitchFamily="2" charset="2"/>
              <a:buChar char="Ø"/>
            </a:pPr>
            <a:r>
              <a:rPr lang="en-US" sz="3000" dirty="0">
                <a:solidFill>
                  <a:schemeClr val="bg1"/>
                </a:solidFill>
                <a:latin typeface="Times New Roman"/>
                <a:cs typeface="Times New Roman"/>
              </a:rPr>
              <a:t>Software Output</a:t>
            </a:r>
          </a:p>
          <a:p>
            <a:pPr marL="457200" indent="-457200">
              <a:buFont typeface="Wingdings" panose="05000000000000000000" pitchFamily="2" charset="2"/>
              <a:buChar char="Ø"/>
            </a:pPr>
            <a:r>
              <a:rPr lang="en-US" sz="3000" dirty="0">
                <a:solidFill>
                  <a:schemeClr val="bg1"/>
                </a:solidFill>
                <a:latin typeface="Times New Roman"/>
                <a:cs typeface="Times New Roman"/>
              </a:rPr>
              <a:t>Hardware Integration</a:t>
            </a:r>
          </a:p>
          <a:p>
            <a:pPr marL="457200" indent="-457200">
              <a:buFont typeface="Wingdings" panose="05000000000000000000" pitchFamily="2" charset="2"/>
              <a:buChar char="Ø"/>
            </a:pPr>
            <a:r>
              <a:rPr lang="en-US" sz="3000" dirty="0">
                <a:solidFill>
                  <a:schemeClr val="bg1"/>
                </a:solidFill>
                <a:latin typeface="Times New Roman"/>
                <a:cs typeface="Times New Roman"/>
              </a:rPr>
              <a:t>Circuit Diagram</a:t>
            </a:r>
          </a:p>
          <a:p>
            <a:pPr marL="457200" indent="-457200">
              <a:buFont typeface="Wingdings" panose="05000000000000000000" pitchFamily="2" charset="2"/>
              <a:buChar char="Ø"/>
            </a:pPr>
            <a:r>
              <a:rPr lang="en-US" sz="3000" dirty="0">
                <a:solidFill>
                  <a:schemeClr val="bg1"/>
                </a:solidFill>
                <a:latin typeface="Times New Roman"/>
                <a:cs typeface="Times New Roman"/>
              </a:rPr>
              <a:t>Hardware Output</a:t>
            </a:r>
          </a:p>
          <a:p>
            <a:pPr marL="457200" indent="-457200">
              <a:buFont typeface="Wingdings" panose="05000000000000000000" pitchFamily="2" charset="2"/>
              <a:buChar char="Ø"/>
            </a:pPr>
            <a:r>
              <a:rPr lang="en-US" sz="3000" dirty="0">
                <a:solidFill>
                  <a:schemeClr val="bg1"/>
                </a:solidFill>
                <a:latin typeface="Times New Roman"/>
                <a:cs typeface="Times New Roman"/>
              </a:rPr>
              <a:t>Roadmap of Future Work</a:t>
            </a:r>
          </a:p>
        </p:txBody>
      </p:sp>
    </p:spTree>
    <p:extLst>
      <p:ext uri="{BB962C8B-B14F-4D97-AF65-F5344CB8AC3E}">
        <p14:creationId xmlns:p14="http://schemas.microsoft.com/office/powerpoint/2010/main" val="2722763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B214A-CED8-7406-194E-B074F1442E59}"/>
              </a:ext>
            </a:extLst>
          </p:cNvPr>
          <p:cNvSpPr txBox="1">
            <a:spLocks/>
          </p:cNvSpPr>
          <p:nvPr/>
        </p:nvSpPr>
        <p:spPr>
          <a:xfrm>
            <a:off x="838200" y="232270"/>
            <a:ext cx="10515600" cy="660076"/>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5000">
                <a:latin typeface="Times New Roman"/>
                <a:cs typeface="Times New Roman"/>
              </a:rPr>
              <a:t>Introduction </a:t>
            </a:r>
          </a:p>
        </p:txBody>
      </p:sp>
      <p:pic>
        <p:nvPicPr>
          <p:cNvPr id="6" name="Picture 5" descr="A black background with white text&#10;&#10;AI-generated content may be incorrect.">
            <a:extLst>
              <a:ext uri="{FF2B5EF4-FFF2-40B4-BE49-F238E27FC236}">
                <a16:creationId xmlns:a16="http://schemas.microsoft.com/office/drawing/2014/main" id="{8ED14AD2-A43B-61C7-3F7B-C674C26CA7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329" y="995816"/>
            <a:ext cx="6403580" cy="2868744"/>
          </a:xfrm>
          <a:prstGeom prst="rect">
            <a:avLst/>
          </a:prstGeom>
        </p:spPr>
      </p:pic>
      <p:pic>
        <p:nvPicPr>
          <p:cNvPr id="8" name="Picture 7">
            <a:extLst>
              <a:ext uri="{FF2B5EF4-FFF2-40B4-BE49-F238E27FC236}">
                <a16:creationId xmlns:a16="http://schemas.microsoft.com/office/drawing/2014/main" id="{D7B0E284-7175-D333-BB90-614E17811BB7}"/>
              </a:ext>
            </a:extLst>
          </p:cNvPr>
          <p:cNvPicPr>
            <a:picLocks noChangeAspect="1"/>
          </p:cNvPicPr>
          <p:nvPr/>
        </p:nvPicPr>
        <p:blipFill>
          <a:blip r:embed="rId3"/>
          <a:stretch>
            <a:fillRect/>
          </a:stretch>
        </p:blipFill>
        <p:spPr>
          <a:xfrm>
            <a:off x="5381675" y="4114147"/>
            <a:ext cx="6574096" cy="2501377"/>
          </a:xfrm>
          <a:prstGeom prst="rect">
            <a:avLst/>
          </a:prstGeom>
          <a:solidFill>
            <a:schemeClr val="tx1">
              <a:alpha val="80000"/>
            </a:schemeClr>
          </a:solidFill>
        </p:spPr>
      </p:pic>
      <p:sp>
        <p:nvSpPr>
          <p:cNvPr id="15" name="Arrow: Right 14">
            <a:extLst>
              <a:ext uri="{FF2B5EF4-FFF2-40B4-BE49-F238E27FC236}">
                <a16:creationId xmlns:a16="http://schemas.microsoft.com/office/drawing/2014/main" id="{70F2175A-551D-7885-157C-7A68890102F0}"/>
              </a:ext>
            </a:extLst>
          </p:cNvPr>
          <p:cNvSpPr/>
          <p:nvPr/>
        </p:nvSpPr>
        <p:spPr>
          <a:xfrm>
            <a:off x="6827510" y="1850727"/>
            <a:ext cx="920192" cy="374281"/>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Left 15">
            <a:extLst>
              <a:ext uri="{FF2B5EF4-FFF2-40B4-BE49-F238E27FC236}">
                <a16:creationId xmlns:a16="http://schemas.microsoft.com/office/drawing/2014/main" id="{FCEA19C9-B3ED-3B2B-2364-39C7BE5CBEF7}"/>
              </a:ext>
            </a:extLst>
          </p:cNvPr>
          <p:cNvSpPr/>
          <p:nvPr/>
        </p:nvSpPr>
        <p:spPr>
          <a:xfrm flipV="1">
            <a:off x="4583203" y="5104383"/>
            <a:ext cx="1062632" cy="520902"/>
          </a:xfrm>
          <a:prstGeom prst="leftArrow">
            <a:avLst>
              <a:gd name="adj1" fmla="val 38236"/>
              <a:gd name="adj2" fmla="val 58824"/>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7E2C4949-9206-3F7F-5FA6-A0BA8652A025}"/>
              </a:ext>
            </a:extLst>
          </p:cNvPr>
          <p:cNvSpPr/>
          <p:nvPr/>
        </p:nvSpPr>
        <p:spPr>
          <a:xfrm>
            <a:off x="512303" y="4779975"/>
            <a:ext cx="3907298" cy="1169719"/>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baseline="0" dirty="0">
                <a:solidFill>
                  <a:schemeClr val="bg1"/>
                </a:solidFill>
                <a:latin typeface="Times New Roman"/>
                <a:ea typeface="Segoe UI"/>
                <a:cs typeface="Segoe UI"/>
              </a:rPr>
              <a:t>Crop Recommendation System </a:t>
            </a:r>
            <a:r>
              <a:rPr lang="en-US" sz="2800" b="1" dirty="0">
                <a:solidFill>
                  <a:schemeClr val="bg1"/>
                </a:solidFill>
                <a:latin typeface="Times New Roman"/>
                <a:ea typeface="Times New Roman"/>
                <a:cs typeface="Times New Roman"/>
              </a:rPr>
              <a:t>​</a:t>
            </a:r>
            <a:endParaRPr lang="en-US" sz="2800" b="1" dirty="0">
              <a:solidFill>
                <a:schemeClr val="bg1"/>
              </a:solidFill>
              <a:latin typeface="Times New Roman"/>
              <a:cs typeface="Times New Roman"/>
            </a:endParaRPr>
          </a:p>
        </p:txBody>
      </p:sp>
      <p:sp>
        <p:nvSpPr>
          <p:cNvPr id="9" name="Rectangle: Rounded Corners 8">
            <a:extLst>
              <a:ext uri="{FF2B5EF4-FFF2-40B4-BE49-F238E27FC236}">
                <a16:creationId xmlns:a16="http://schemas.microsoft.com/office/drawing/2014/main" id="{2598D655-2393-CE21-CAB7-937D11A285E0}"/>
              </a:ext>
            </a:extLst>
          </p:cNvPr>
          <p:cNvSpPr/>
          <p:nvPr/>
        </p:nvSpPr>
        <p:spPr>
          <a:xfrm>
            <a:off x="7846411" y="1550256"/>
            <a:ext cx="4097260" cy="87993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b="1">
              <a:solidFill>
                <a:schemeClr val="bg1"/>
              </a:solidFill>
              <a:latin typeface="Times New Roman"/>
              <a:cs typeface="Times New Roman"/>
            </a:endParaRPr>
          </a:p>
        </p:txBody>
      </p:sp>
      <p:sp>
        <p:nvSpPr>
          <p:cNvPr id="11" name="TextBox 10">
            <a:extLst>
              <a:ext uri="{FF2B5EF4-FFF2-40B4-BE49-F238E27FC236}">
                <a16:creationId xmlns:a16="http://schemas.microsoft.com/office/drawing/2014/main" id="{B4E4C915-2E28-070E-5E74-616F6A523E1C}"/>
              </a:ext>
            </a:extLst>
          </p:cNvPr>
          <p:cNvSpPr txBox="1"/>
          <p:nvPr/>
        </p:nvSpPr>
        <p:spPr>
          <a:xfrm>
            <a:off x="8015309" y="1707861"/>
            <a:ext cx="384519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chemeClr val="bg1"/>
                </a:solidFill>
                <a:latin typeface="Times New Roman"/>
                <a:cs typeface="Times New Roman"/>
              </a:rPr>
              <a:t>Plant Disease Detection</a:t>
            </a:r>
            <a:endParaRPr lang="en-US" sz="2800" dirty="0">
              <a:solidFill>
                <a:schemeClr val="bg1"/>
              </a:solidFill>
              <a:latin typeface="Times New Roman"/>
              <a:cs typeface="Times New Roman"/>
            </a:endParaRPr>
          </a:p>
        </p:txBody>
      </p:sp>
    </p:spTree>
    <p:extLst>
      <p:ext uri="{BB962C8B-B14F-4D97-AF65-F5344CB8AC3E}">
        <p14:creationId xmlns:p14="http://schemas.microsoft.com/office/powerpoint/2010/main" val="1156638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9845B-F077-1C6E-F5B3-7CFE7F7DA75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DFBF4CD-C02D-AE8D-A1D5-B758D9AB49BF}"/>
              </a:ext>
            </a:extLst>
          </p:cNvPr>
          <p:cNvSpPr txBox="1">
            <a:spLocks/>
          </p:cNvSpPr>
          <p:nvPr/>
        </p:nvSpPr>
        <p:spPr>
          <a:xfrm>
            <a:off x="780691" y="151127"/>
            <a:ext cx="10616241" cy="717585"/>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5000">
                <a:latin typeface="Times New Roman"/>
                <a:cs typeface="Times New Roman"/>
              </a:rPr>
              <a:t>Workflow</a:t>
            </a:r>
            <a:endParaRPr lang="en-US" sz="5000"/>
          </a:p>
        </p:txBody>
      </p:sp>
      <p:pic>
        <p:nvPicPr>
          <p:cNvPr id="4" name="Picture 3" descr="A diagram of a computer system&#10;&#10;AI-generated content may be incorrect.">
            <a:extLst>
              <a:ext uri="{FF2B5EF4-FFF2-40B4-BE49-F238E27FC236}">
                <a16:creationId xmlns:a16="http://schemas.microsoft.com/office/drawing/2014/main" id="{E51D5E0E-1423-ABF6-FF14-0B536D3E1ADE}"/>
              </a:ext>
            </a:extLst>
          </p:cNvPr>
          <p:cNvPicPr>
            <a:picLocks noChangeAspect="1"/>
          </p:cNvPicPr>
          <p:nvPr/>
        </p:nvPicPr>
        <p:blipFill>
          <a:blip r:embed="rId2"/>
          <a:stretch>
            <a:fillRect/>
          </a:stretch>
        </p:blipFill>
        <p:spPr>
          <a:xfrm>
            <a:off x="440698" y="867833"/>
            <a:ext cx="11296226" cy="5990167"/>
          </a:xfrm>
          <a:prstGeom prst="rect">
            <a:avLst/>
          </a:prstGeom>
        </p:spPr>
      </p:pic>
    </p:spTree>
    <p:extLst>
      <p:ext uri="{BB962C8B-B14F-4D97-AF65-F5344CB8AC3E}">
        <p14:creationId xmlns:p14="http://schemas.microsoft.com/office/powerpoint/2010/main" val="365801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DF4E9F-D3F9-D5FF-5CB4-8E36D7993496}"/>
              </a:ext>
            </a:extLst>
          </p:cNvPr>
          <p:cNvPicPr>
            <a:picLocks noChangeAspect="1"/>
          </p:cNvPicPr>
          <p:nvPr/>
        </p:nvPicPr>
        <p:blipFill>
          <a:blip r:embed="rId2">
            <a:extLst>
              <a:ext uri="{28A0092B-C50C-407E-A947-70E740481C1C}">
                <a14:useLocalDpi xmlns:a14="http://schemas.microsoft.com/office/drawing/2010/main" val="0"/>
              </a:ext>
            </a:extLst>
          </a:blip>
          <a:srcRect l="4367" t="3784" r="696" b="5012"/>
          <a:stretch>
            <a:fillRect/>
          </a:stretch>
        </p:blipFill>
        <p:spPr>
          <a:xfrm>
            <a:off x="344861" y="846366"/>
            <a:ext cx="11502278" cy="5864992"/>
          </a:xfrm>
          <a:prstGeom prst="rect">
            <a:avLst/>
          </a:prstGeom>
        </p:spPr>
      </p:pic>
      <p:sp>
        <p:nvSpPr>
          <p:cNvPr id="10" name="TextBox 9">
            <a:extLst>
              <a:ext uri="{FF2B5EF4-FFF2-40B4-BE49-F238E27FC236}">
                <a16:creationId xmlns:a16="http://schemas.microsoft.com/office/drawing/2014/main" id="{21AF16F8-AD3C-3A8D-E514-2E3C22298B31}"/>
              </a:ext>
            </a:extLst>
          </p:cNvPr>
          <p:cNvSpPr txBox="1"/>
          <p:nvPr/>
        </p:nvSpPr>
        <p:spPr>
          <a:xfrm>
            <a:off x="892355" y="22485"/>
            <a:ext cx="104013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000" b="1" spc="100" dirty="0">
                <a:solidFill>
                  <a:schemeClr val="bg1"/>
                </a:solidFill>
                <a:latin typeface="Times New Roman"/>
                <a:ea typeface="+mj-ea"/>
                <a:cs typeface="Times New Roman"/>
              </a:rPr>
              <a:t>OpenWeatherMap API Integration</a:t>
            </a:r>
            <a:endParaRPr lang="en-US">
              <a:ea typeface="+mj-ea"/>
            </a:endParaRPr>
          </a:p>
        </p:txBody>
      </p:sp>
    </p:spTree>
    <p:extLst>
      <p:ext uri="{BB962C8B-B14F-4D97-AF65-F5344CB8AC3E}">
        <p14:creationId xmlns:p14="http://schemas.microsoft.com/office/powerpoint/2010/main" val="1053972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EC13A-847C-28CA-C66F-B36611D5C0BC}"/>
            </a:ext>
          </a:extLst>
        </p:cNvPr>
        <p:cNvGrpSpPr/>
        <p:nvPr/>
      </p:nvGrpSpPr>
      <p:grpSpPr>
        <a:xfrm>
          <a:off x="0" y="0"/>
          <a:ext cx="0" cy="0"/>
          <a:chOff x="0" y="0"/>
          <a:chExt cx="0" cy="0"/>
        </a:xfrm>
      </p:grpSpPr>
      <p:sp>
        <p:nvSpPr>
          <p:cNvPr id="6" name="Arrow: Right 5">
            <a:extLst>
              <a:ext uri="{FF2B5EF4-FFF2-40B4-BE49-F238E27FC236}">
                <a16:creationId xmlns:a16="http://schemas.microsoft.com/office/drawing/2014/main" id="{37F16AF0-185B-7FAB-1987-D2F5F8FC4E23}"/>
              </a:ext>
            </a:extLst>
          </p:cNvPr>
          <p:cNvSpPr/>
          <p:nvPr/>
        </p:nvSpPr>
        <p:spPr>
          <a:xfrm>
            <a:off x="7492580" y="3789680"/>
            <a:ext cx="1041820" cy="44518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7DA7D10-ECE7-F8FD-D3A3-0D1EC7C03DAE}"/>
              </a:ext>
            </a:extLst>
          </p:cNvPr>
          <p:cNvSpPr txBox="1">
            <a:spLocks/>
          </p:cNvSpPr>
          <p:nvPr/>
        </p:nvSpPr>
        <p:spPr>
          <a:xfrm>
            <a:off x="838200" y="174761"/>
            <a:ext cx="10544354" cy="688831"/>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5000">
                <a:latin typeface="Times New Roman"/>
                <a:cs typeface="Times New Roman"/>
              </a:rPr>
              <a:t>Software Output</a:t>
            </a:r>
          </a:p>
        </p:txBody>
      </p:sp>
      <p:pic>
        <p:nvPicPr>
          <p:cNvPr id="4" name="Picture 3" descr="A screenshot of a computer&#10;&#10;AI-generated content may be incorrect.">
            <a:extLst>
              <a:ext uri="{FF2B5EF4-FFF2-40B4-BE49-F238E27FC236}">
                <a16:creationId xmlns:a16="http://schemas.microsoft.com/office/drawing/2014/main" id="{BB4188E8-D21D-632A-D94A-497D83A5F628}"/>
              </a:ext>
            </a:extLst>
          </p:cNvPr>
          <p:cNvPicPr>
            <a:picLocks noChangeAspect="1"/>
          </p:cNvPicPr>
          <p:nvPr/>
        </p:nvPicPr>
        <p:blipFill>
          <a:blip r:embed="rId2"/>
          <a:srcRect l="5751" r="4741" b="-310"/>
          <a:stretch>
            <a:fillRect/>
          </a:stretch>
        </p:blipFill>
        <p:spPr>
          <a:xfrm>
            <a:off x="549130" y="971901"/>
            <a:ext cx="7062126" cy="3943370"/>
          </a:xfrm>
          <a:prstGeom prst="rect">
            <a:avLst/>
          </a:prstGeom>
        </p:spPr>
      </p:pic>
      <p:pic>
        <p:nvPicPr>
          <p:cNvPr id="5" name="Picture 4" descr="A screenshot of a field of corn&#10;&#10;AI-generated content may be incorrect.">
            <a:extLst>
              <a:ext uri="{FF2B5EF4-FFF2-40B4-BE49-F238E27FC236}">
                <a16:creationId xmlns:a16="http://schemas.microsoft.com/office/drawing/2014/main" id="{14DA24E9-74D2-468A-B7B5-5B6450376A0E}"/>
              </a:ext>
            </a:extLst>
          </p:cNvPr>
          <p:cNvPicPr>
            <a:picLocks noChangeAspect="1"/>
          </p:cNvPicPr>
          <p:nvPr/>
        </p:nvPicPr>
        <p:blipFill>
          <a:blip r:embed="rId3"/>
          <a:srcRect l="31594" t="1" r="32765" b="1213"/>
          <a:stretch>
            <a:fillRect/>
          </a:stretch>
        </p:blipFill>
        <p:spPr>
          <a:xfrm>
            <a:off x="8292978" y="971902"/>
            <a:ext cx="3455336" cy="3943370"/>
          </a:xfrm>
          <a:prstGeom prst="rect">
            <a:avLst/>
          </a:prstGeom>
        </p:spPr>
      </p:pic>
      <p:sp>
        <p:nvSpPr>
          <p:cNvPr id="8" name="Rectangle: Rounded Corners 7">
            <a:extLst>
              <a:ext uri="{FF2B5EF4-FFF2-40B4-BE49-F238E27FC236}">
                <a16:creationId xmlns:a16="http://schemas.microsoft.com/office/drawing/2014/main" id="{17777C6E-C119-044D-2DC8-81B35BCC450F}"/>
              </a:ext>
            </a:extLst>
          </p:cNvPr>
          <p:cNvSpPr/>
          <p:nvPr/>
        </p:nvSpPr>
        <p:spPr>
          <a:xfrm>
            <a:off x="943889" y="5025604"/>
            <a:ext cx="6233653" cy="1529007"/>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800" baseline="0" dirty="0">
                <a:solidFill>
                  <a:schemeClr val="bg1"/>
                </a:solidFill>
                <a:latin typeface="Times New Roman"/>
                <a:ea typeface="Segoe UI"/>
                <a:cs typeface="Segoe UI"/>
              </a:rPr>
              <a:t>Updated Crop Recommendation System form with </a:t>
            </a:r>
            <a:r>
              <a:rPr lang="en-US" dirty="0">
                <a:solidFill>
                  <a:schemeClr val="bg1"/>
                </a:solidFill>
                <a:latin typeface="Times New Roman"/>
                <a:ea typeface="Segoe UI"/>
                <a:cs typeface="Segoe UI"/>
              </a:rPr>
              <a:t>sample values</a:t>
            </a:r>
            <a:r>
              <a:rPr lang="en-US" sz="1800" baseline="0" dirty="0">
                <a:solidFill>
                  <a:schemeClr val="bg1"/>
                </a:solidFill>
                <a:latin typeface="Times New Roman"/>
                <a:ea typeface="Segoe UI"/>
                <a:cs typeface="Segoe UI"/>
              </a:rPr>
              <a:t> filled in, ready for processing and crop prediction.</a:t>
            </a:r>
            <a:r>
              <a:rPr lang="en-US" dirty="0">
                <a:solidFill>
                  <a:schemeClr val="bg1"/>
                </a:solidFill>
                <a:latin typeface="Times New Roman"/>
                <a:ea typeface="Segoe UI"/>
                <a:cs typeface="Segoe UI"/>
              </a:rPr>
              <a:t> </a:t>
            </a:r>
            <a:r>
              <a:rPr lang="en-US" sz="1800" baseline="0" dirty="0">
                <a:solidFill>
                  <a:schemeClr val="bg1"/>
                </a:solidFill>
                <a:latin typeface="Times New Roman"/>
                <a:ea typeface="Segoe UI"/>
                <a:cs typeface="Segoe UI"/>
              </a:rPr>
              <a:t>Live weather data fetched after clicking “Fetch </a:t>
            </a:r>
            <a:r>
              <a:rPr lang="en-US" dirty="0">
                <a:solidFill>
                  <a:schemeClr val="bg1"/>
                </a:solidFill>
                <a:latin typeface="Times New Roman"/>
                <a:ea typeface="Segoe UI"/>
                <a:cs typeface="Segoe UI"/>
              </a:rPr>
              <a:t>Live Weather</a:t>
            </a:r>
            <a:r>
              <a:rPr lang="en-US" sz="1800" baseline="0" dirty="0">
                <a:solidFill>
                  <a:schemeClr val="bg1"/>
                </a:solidFill>
                <a:latin typeface="Times New Roman"/>
                <a:ea typeface="Segoe UI"/>
                <a:cs typeface="Segoe UI"/>
              </a:rPr>
              <a:t> Data" button using OpenWeatherMap APIs.</a:t>
            </a:r>
            <a:r>
              <a:rPr lang="en-US" sz="1800" dirty="0">
                <a:solidFill>
                  <a:schemeClr val="bg1"/>
                </a:solidFill>
                <a:latin typeface="Times New Roman"/>
                <a:ea typeface="Franklin Gothic Book"/>
                <a:cs typeface="Franklin Gothic Book"/>
              </a:rPr>
              <a:t>​</a:t>
            </a:r>
            <a:endParaRPr lang="en-US" dirty="0">
              <a:solidFill>
                <a:schemeClr val="bg1"/>
              </a:solidFill>
              <a:latin typeface="Times New Roman"/>
              <a:cs typeface="Times New Roman"/>
            </a:endParaRPr>
          </a:p>
        </p:txBody>
      </p:sp>
      <p:grpSp>
        <p:nvGrpSpPr>
          <p:cNvPr id="14" name="Group 13">
            <a:extLst>
              <a:ext uri="{FF2B5EF4-FFF2-40B4-BE49-F238E27FC236}">
                <a16:creationId xmlns:a16="http://schemas.microsoft.com/office/drawing/2014/main" id="{78A8DFCE-0A96-E823-3CAE-F8B285443B35}"/>
              </a:ext>
            </a:extLst>
          </p:cNvPr>
          <p:cNvGrpSpPr/>
          <p:nvPr/>
        </p:nvGrpSpPr>
        <p:grpSpPr>
          <a:xfrm>
            <a:off x="8310880" y="4917177"/>
            <a:ext cx="3383280" cy="1612605"/>
            <a:chOff x="485954" y="4511040"/>
            <a:chExt cx="3116054" cy="1649634"/>
          </a:xfrm>
        </p:grpSpPr>
        <p:sp>
          <p:nvSpPr>
            <p:cNvPr id="12" name="Rectangle: Rounded Corners 11">
              <a:extLst>
                <a:ext uri="{FF2B5EF4-FFF2-40B4-BE49-F238E27FC236}">
                  <a16:creationId xmlns:a16="http://schemas.microsoft.com/office/drawing/2014/main" id="{B76EC4D0-EB40-3406-B0F7-0310D6246FD6}"/>
                </a:ext>
              </a:extLst>
            </p:cNvPr>
            <p:cNvSpPr/>
            <p:nvPr/>
          </p:nvSpPr>
          <p:spPr>
            <a:xfrm>
              <a:off x="485954" y="4658831"/>
              <a:ext cx="3116054" cy="1501843"/>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9C6E964-61DC-2D92-88F9-E8ED8C182313}"/>
                </a:ext>
              </a:extLst>
            </p:cNvPr>
            <p:cNvSpPr txBox="1"/>
            <p:nvPr/>
          </p:nvSpPr>
          <p:spPr>
            <a:xfrm>
              <a:off x="548640" y="4511040"/>
              <a:ext cx="29870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dirty="0">
                <a:solidFill>
                  <a:schemeClr val="bg1"/>
                </a:solidFill>
                <a:latin typeface="Times New Roman"/>
                <a:cs typeface="Times New Roman"/>
              </a:endParaRPr>
            </a:p>
          </p:txBody>
        </p:sp>
      </p:grpSp>
      <p:sp>
        <p:nvSpPr>
          <p:cNvPr id="15" name="TextBox 14">
            <a:extLst>
              <a:ext uri="{FF2B5EF4-FFF2-40B4-BE49-F238E27FC236}">
                <a16:creationId xmlns:a16="http://schemas.microsoft.com/office/drawing/2014/main" id="{4C157CE9-5CF8-0509-AF5B-C54B61635D90}"/>
              </a:ext>
            </a:extLst>
          </p:cNvPr>
          <p:cNvSpPr txBox="1"/>
          <p:nvPr/>
        </p:nvSpPr>
        <p:spPr>
          <a:xfrm rot="10800000" flipV="1">
            <a:off x="8432799" y="5025604"/>
            <a:ext cx="332013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aseline="0" dirty="0">
                <a:solidFill>
                  <a:schemeClr val="bg1"/>
                </a:solidFill>
                <a:latin typeface="Times New Roman"/>
                <a:ea typeface="Segoe UI"/>
                <a:cs typeface="Segoe UI"/>
              </a:rPr>
              <a:t>Output section of the Crop </a:t>
            </a:r>
            <a:r>
              <a:rPr lang="en-US" dirty="0">
                <a:solidFill>
                  <a:schemeClr val="bg1"/>
                </a:solidFill>
                <a:latin typeface="Times New Roman"/>
                <a:ea typeface="Segoe UI"/>
                <a:cs typeface="Segoe UI"/>
              </a:rPr>
              <a:t>Recommendation System</a:t>
            </a:r>
            <a:r>
              <a:rPr lang="en-US" sz="1800" baseline="0" dirty="0">
                <a:solidFill>
                  <a:schemeClr val="bg1"/>
                </a:solidFill>
                <a:latin typeface="Times New Roman"/>
                <a:ea typeface="Segoe UI"/>
                <a:cs typeface="Segoe UI"/>
              </a:rPr>
              <a:t> showing the predicted best crop (Banana)</a:t>
            </a:r>
            <a:r>
              <a:rPr lang="en-US" dirty="0">
                <a:solidFill>
                  <a:schemeClr val="bg1"/>
                </a:solidFill>
                <a:latin typeface="Times New Roman"/>
                <a:ea typeface="Segoe UI"/>
                <a:cs typeface="Segoe UI"/>
              </a:rPr>
              <a:t> </a:t>
            </a:r>
            <a:r>
              <a:rPr lang="en-US" sz="1800" baseline="0" dirty="0">
                <a:solidFill>
                  <a:schemeClr val="bg1"/>
                </a:solidFill>
                <a:latin typeface="Times New Roman"/>
                <a:ea typeface="Segoe UI"/>
                <a:cs typeface="Segoe UI"/>
              </a:rPr>
              <a:t>based on the input soil and </a:t>
            </a:r>
            <a:r>
              <a:rPr lang="en-US" dirty="0">
                <a:solidFill>
                  <a:schemeClr val="bg1"/>
                </a:solidFill>
                <a:latin typeface="Times New Roman"/>
                <a:ea typeface="Segoe UI"/>
                <a:cs typeface="Segoe UI"/>
              </a:rPr>
              <a:t>environmental parameters</a:t>
            </a:r>
            <a:r>
              <a:rPr lang="en-US" sz="1800" baseline="0" dirty="0">
                <a:solidFill>
                  <a:schemeClr val="bg1"/>
                </a:solidFill>
                <a:latin typeface="Times New Roman"/>
                <a:ea typeface="Segoe UI"/>
                <a:cs typeface="Segoe UI"/>
              </a:rPr>
              <a:t>.</a:t>
            </a:r>
            <a:r>
              <a:rPr lang="en-US" sz="1800" dirty="0">
                <a:solidFill>
                  <a:schemeClr val="bg1"/>
                </a:solidFill>
                <a:latin typeface="Times New Roman"/>
                <a:ea typeface="Franklin Gothic Book"/>
                <a:cs typeface="Franklin Gothic Book"/>
              </a:rPr>
              <a:t>​</a:t>
            </a:r>
            <a:endParaRPr lang="en-US" dirty="0">
              <a:solidFill>
                <a:schemeClr val="bg1"/>
              </a:solidFill>
              <a:latin typeface="Times New Roman"/>
              <a:cs typeface="Times New Roman"/>
            </a:endParaRPr>
          </a:p>
          <a:p>
            <a:pPr algn="ctr"/>
            <a:endParaRPr lang="en-US" dirty="0">
              <a:solidFill>
                <a:schemeClr val="bg1"/>
              </a:solidFill>
            </a:endParaRPr>
          </a:p>
        </p:txBody>
      </p:sp>
      <p:sp>
        <p:nvSpPr>
          <p:cNvPr id="2" name="Arrow: Right 1">
            <a:extLst>
              <a:ext uri="{FF2B5EF4-FFF2-40B4-BE49-F238E27FC236}">
                <a16:creationId xmlns:a16="http://schemas.microsoft.com/office/drawing/2014/main" id="{3786DE21-A001-553F-5C3A-76C07783B2C5}"/>
              </a:ext>
            </a:extLst>
          </p:cNvPr>
          <p:cNvSpPr/>
          <p:nvPr/>
        </p:nvSpPr>
        <p:spPr>
          <a:xfrm>
            <a:off x="7664253" y="2830467"/>
            <a:ext cx="575728" cy="228144"/>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2593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674FD-361B-4670-4155-C7E20110CBC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0C6A5A2-4491-32FB-7AC0-AA431D3AC8C2}"/>
              </a:ext>
            </a:extLst>
          </p:cNvPr>
          <p:cNvSpPr txBox="1">
            <a:spLocks/>
          </p:cNvSpPr>
          <p:nvPr/>
        </p:nvSpPr>
        <p:spPr>
          <a:xfrm>
            <a:off x="838200" y="189138"/>
            <a:ext cx="10515600" cy="703208"/>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5000">
                <a:latin typeface="Times New Roman"/>
                <a:cs typeface="Times New Roman"/>
              </a:rPr>
              <a:t>Hardware Integration</a:t>
            </a:r>
          </a:p>
        </p:txBody>
      </p:sp>
      <p:pic>
        <p:nvPicPr>
          <p:cNvPr id="5" name="Picture 4" descr="A diagram of a circuit board&#10;&#10;AI-generated content may be incorrect.">
            <a:extLst>
              <a:ext uri="{FF2B5EF4-FFF2-40B4-BE49-F238E27FC236}">
                <a16:creationId xmlns:a16="http://schemas.microsoft.com/office/drawing/2014/main" id="{5B4A3F4A-8D7C-BA05-8942-F9168A4984FF}"/>
              </a:ext>
            </a:extLst>
          </p:cNvPr>
          <p:cNvPicPr>
            <a:picLocks noChangeAspect="1"/>
          </p:cNvPicPr>
          <p:nvPr/>
        </p:nvPicPr>
        <p:blipFill>
          <a:blip r:embed="rId3"/>
          <a:stretch>
            <a:fillRect/>
          </a:stretch>
        </p:blipFill>
        <p:spPr>
          <a:xfrm>
            <a:off x="128804" y="964232"/>
            <a:ext cx="4088961" cy="3443535"/>
          </a:xfrm>
          <a:prstGeom prst="rect">
            <a:avLst/>
          </a:prstGeom>
        </p:spPr>
      </p:pic>
      <p:pic>
        <p:nvPicPr>
          <p:cNvPr id="6" name="Picture 5" descr="A close-up of a device&#10;&#10;AI-generated content may be incorrect.">
            <a:extLst>
              <a:ext uri="{FF2B5EF4-FFF2-40B4-BE49-F238E27FC236}">
                <a16:creationId xmlns:a16="http://schemas.microsoft.com/office/drawing/2014/main" id="{73131D84-0D3F-EC8D-17CD-B5799B6CB1A2}"/>
              </a:ext>
            </a:extLst>
          </p:cNvPr>
          <p:cNvPicPr>
            <a:picLocks noChangeAspect="1"/>
          </p:cNvPicPr>
          <p:nvPr/>
        </p:nvPicPr>
        <p:blipFill>
          <a:blip r:embed="rId4"/>
          <a:srcRect t="12112" b="8406"/>
          <a:stretch>
            <a:fillRect/>
          </a:stretch>
        </p:blipFill>
        <p:spPr>
          <a:xfrm>
            <a:off x="4496587" y="1259839"/>
            <a:ext cx="3563857" cy="2939589"/>
          </a:xfrm>
          <a:prstGeom prst="rect">
            <a:avLst/>
          </a:prstGeom>
        </p:spPr>
      </p:pic>
      <p:pic>
        <p:nvPicPr>
          <p:cNvPr id="7" name="Picture 6" descr="A black wire with a silver tip&#10;&#10;AI-generated content may be incorrect.">
            <a:extLst>
              <a:ext uri="{FF2B5EF4-FFF2-40B4-BE49-F238E27FC236}">
                <a16:creationId xmlns:a16="http://schemas.microsoft.com/office/drawing/2014/main" id="{929D185E-55A3-E52E-4F9A-43E97C0BC47B}"/>
              </a:ext>
            </a:extLst>
          </p:cNvPr>
          <p:cNvPicPr>
            <a:picLocks noChangeAspect="1"/>
          </p:cNvPicPr>
          <p:nvPr/>
        </p:nvPicPr>
        <p:blipFill>
          <a:blip r:embed="rId5"/>
          <a:stretch>
            <a:fillRect/>
          </a:stretch>
        </p:blipFill>
        <p:spPr>
          <a:xfrm>
            <a:off x="8376187" y="964232"/>
            <a:ext cx="3595930" cy="3235196"/>
          </a:xfrm>
          <a:prstGeom prst="rect">
            <a:avLst/>
          </a:prstGeom>
        </p:spPr>
      </p:pic>
      <p:grpSp>
        <p:nvGrpSpPr>
          <p:cNvPr id="11" name="Group 10">
            <a:extLst>
              <a:ext uri="{FF2B5EF4-FFF2-40B4-BE49-F238E27FC236}">
                <a16:creationId xmlns:a16="http://schemas.microsoft.com/office/drawing/2014/main" id="{8D7A1732-4D1C-9526-D797-C013A66BB421}"/>
              </a:ext>
            </a:extLst>
          </p:cNvPr>
          <p:cNvGrpSpPr/>
          <p:nvPr/>
        </p:nvGrpSpPr>
        <p:grpSpPr>
          <a:xfrm>
            <a:off x="167148" y="4924813"/>
            <a:ext cx="3829491" cy="1815882"/>
            <a:chOff x="485954" y="4440037"/>
            <a:chExt cx="3116054" cy="2185578"/>
          </a:xfrm>
        </p:grpSpPr>
        <p:sp>
          <p:nvSpPr>
            <p:cNvPr id="10" name="Rectangle: Rounded Corners 9">
              <a:extLst>
                <a:ext uri="{FF2B5EF4-FFF2-40B4-BE49-F238E27FC236}">
                  <a16:creationId xmlns:a16="http://schemas.microsoft.com/office/drawing/2014/main" id="{38322B55-C066-AD01-753B-7B86F901586A}"/>
                </a:ext>
              </a:extLst>
            </p:cNvPr>
            <p:cNvSpPr/>
            <p:nvPr/>
          </p:nvSpPr>
          <p:spPr>
            <a:xfrm>
              <a:off x="485954" y="4441643"/>
              <a:ext cx="3116054" cy="215341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13976CE-33AA-5479-FC27-2FE8EE157D4C}"/>
                </a:ext>
              </a:extLst>
            </p:cNvPr>
            <p:cNvSpPr txBox="1"/>
            <p:nvPr/>
          </p:nvSpPr>
          <p:spPr>
            <a:xfrm>
              <a:off x="548641" y="4440037"/>
              <a:ext cx="2721489" cy="21855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latin typeface="Times New Roman"/>
                  <a:ea typeface="+mn-lt"/>
                  <a:cs typeface="+mn-lt"/>
                </a:rPr>
                <a:t>Based on the ATmega328P microcontroller</a:t>
              </a:r>
            </a:p>
            <a:p>
              <a:pPr marL="285750" indent="-285750">
                <a:buFont typeface="Arial"/>
                <a:buChar char="•"/>
              </a:pPr>
              <a:r>
                <a:rPr lang="en-US" sz="1600" dirty="0">
                  <a:solidFill>
                    <a:schemeClr val="bg1"/>
                  </a:solidFill>
                  <a:latin typeface="Times New Roman"/>
                  <a:ea typeface="+mn-lt"/>
                  <a:cs typeface="+mn-lt"/>
                </a:rPr>
                <a:t>Provides 14 digital I/O pins and 8 analog inputs</a:t>
              </a:r>
            </a:p>
            <a:p>
              <a:pPr marL="285750" indent="-285750">
                <a:buFont typeface="Arial"/>
                <a:buChar char="•"/>
              </a:pPr>
              <a:r>
                <a:rPr lang="en-US" sz="1600" dirty="0">
                  <a:solidFill>
                    <a:schemeClr val="bg1"/>
                  </a:solidFill>
                  <a:latin typeface="Times New Roman"/>
                  <a:ea typeface="+mn-lt"/>
                  <a:cs typeface="+mn-lt"/>
                </a:rPr>
                <a:t>Includes USB connectivity</a:t>
              </a:r>
              <a:endParaRPr lang="en-US"/>
            </a:p>
            <a:p>
              <a:pPr marL="285750" indent="-285750">
                <a:buFont typeface="Arial"/>
                <a:buChar char="•"/>
              </a:pPr>
              <a:r>
                <a:rPr lang="en-US" sz="1600" dirty="0">
                  <a:solidFill>
                    <a:schemeClr val="bg1"/>
                  </a:solidFill>
                  <a:latin typeface="Times New Roman"/>
                  <a:ea typeface="+mn-lt"/>
                  <a:cs typeface="+mn-lt"/>
                </a:rPr>
                <a:t>Suitable for small-scale embedded and IoT projects</a:t>
              </a:r>
              <a:endParaRPr lang="en-US" sz="1600" dirty="0">
                <a:solidFill>
                  <a:schemeClr val="bg1"/>
                </a:solidFill>
                <a:latin typeface="Times New Roman"/>
                <a:cs typeface="Times New Roman"/>
              </a:endParaRPr>
            </a:p>
          </p:txBody>
        </p:sp>
      </p:grpSp>
      <p:sp>
        <p:nvSpPr>
          <p:cNvPr id="14" name="Rectangle 13">
            <a:extLst>
              <a:ext uri="{FF2B5EF4-FFF2-40B4-BE49-F238E27FC236}">
                <a16:creationId xmlns:a16="http://schemas.microsoft.com/office/drawing/2014/main" id="{EB86B62B-93EF-295E-63A0-1B06832C183F}"/>
              </a:ext>
            </a:extLst>
          </p:cNvPr>
          <p:cNvSpPr/>
          <p:nvPr/>
        </p:nvSpPr>
        <p:spPr>
          <a:xfrm>
            <a:off x="989132" y="4407767"/>
            <a:ext cx="2181046" cy="40141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a:ea typeface="+mn-lt"/>
                <a:cs typeface="+mn-lt"/>
              </a:rPr>
              <a:t>Arduino Nano</a:t>
            </a:r>
            <a:endParaRPr lang="en-US" b="1" dirty="0">
              <a:solidFill>
                <a:schemeClr val="bg1"/>
              </a:solidFill>
              <a:latin typeface="Times New Roman"/>
              <a:cs typeface="Times New Roman"/>
            </a:endParaRPr>
          </a:p>
        </p:txBody>
      </p:sp>
      <p:grpSp>
        <p:nvGrpSpPr>
          <p:cNvPr id="22" name="Group 21">
            <a:extLst>
              <a:ext uri="{FF2B5EF4-FFF2-40B4-BE49-F238E27FC236}">
                <a16:creationId xmlns:a16="http://schemas.microsoft.com/office/drawing/2014/main" id="{DCAF7662-74A8-2D98-A1D9-764C824D9339}"/>
              </a:ext>
            </a:extLst>
          </p:cNvPr>
          <p:cNvGrpSpPr/>
          <p:nvPr/>
        </p:nvGrpSpPr>
        <p:grpSpPr>
          <a:xfrm>
            <a:off x="4415910" y="4923780"/>
            <a:ext cx="3502419" cy="1673196"/>
            <a:chOff x="485954" y="4441643"/>
            <a:chExt cx="3116054" cy="2153410"/>
          </a:xfrm>
        </p:grpSpPr>
        <p:sp>
          <p:nvSpPr>
            <p:cNvPr id="23" name="Rectangle: Rounded Corners 22">
              <a:extLst>
                <a:ext uri="{FF2B5EF4-FFF2-40B4-BE49-F238E27FC236}">
                  <a16:creationId xmlns:a16="http://schemas.microsoft.com/office/drawing/2014/main" id="{5FDD7941-E60C-67C8-D44B-C66702D3B242}"/>
                </a:ext>
              </a:extLst>
            </p:cNvPr>
            <p:cNvSpPr/>
            <p:nvPr/>
          </p:nvSpPr>
          <p:spPr>
            <a:xfrm>
              <a:off x="485954" y="4441643"/>
              <a:ext cx="3116054" cy="215341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6940D61-55EA-C89C-A918-0947DC6E8B02}"/>
                </a:ext>
              </a:extLst>
            </p:cNvPr>
            <p:cNvSpPr txBox="1"/>
            <p:nvPr/>
          </p:nvSpPr>
          <p:spPr>
            <a:xfrm>
              <a:off x="548641" y="4511040"/>
              <a:ext cx="298704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latin typeface="Times New Roman"/>
                  <a:ea typeface="+mn-lt"/>
                  <a:cs typeface="+mn-lt"/>
                </a:rPr>
                <a:t>Measures soil water content (wet or dry)</a:t>
              </a:r>
            </a:p>
            <a:p>
              <a:pPr marL="285750" indent="-285750">
                <a:buFont typeface="Arial"/>
                <a:buChar char="•"/>
              </a:pPr>
              <a:r>
                <a:rPr lang="en-US" sz="1600" dirty="0">
                  <a:solidFill>
                    <a:schemeClr val="bg1"/>
                  </a:solidFill>
                  <a:latin typeface="Times New Roman"/>
                  <a:ea typeface="+mn-lt"/>
                  <a:cs typeface="+mn-lt"/>
                </a:rPr>
                <a:t>Works by detecting changes in electrical resistance or capacitance</a:t>
              </a:r>
            </a:p>
            <a:p>
              <a:pPr marL="285750" indent="-285750">
                <a:buFont typeface="Arial"/>
                <a:buChar char="•"/>
              </a:pPr>
              <a:r>
                <a:rPr lang="en-US" sz="1600" dirty="0">
                  <a:solidFill>
                    <a:schemeClr val="bg1"/>
                  </a:solidFill>
                  <a:latin typeface="Times New Roman"/>
                  <a:ea typeface="+mn-lt"/>
                  <a:cs typeface="+mn-lt"/>
                </a:rPr>
                <a:t>Ensures the optimal soil conditions for crop growth</a:t>
              </a:r>
              <a:endParaRPr lang="en-US" sz="1600" dirty="0">
                <a:solidFill>
                  <a:schemeClr val="bg1"/>
                </a:solidFill>
                <a:latin typeface="Times New Roman"/>
                <a:cs typeface="Times New Roman"/>
              </a:endParaRPr>
            </a:p>
          </p:txBody>
        </p:sp>
      </p:grpSp>
      <p:grpSp>
        <p:nvGrpSpPr>
          <p:cNvPr id="2" name="Group 1">
            <a:extLst>
              <a:ext uri="{FF2B5EF4-FFF2-40B4-BE49-F238E27FC236}">
                <a16:creationId xmlns:a16="http://schemas.microsoft.com/office/drawing/2014/main" id="{9F89A14C-8670-A663-DA8F-779920680DBF}"/>
              </a:ext>
            </a:extLst>
          </p:cNvPr>
          <p:cNvGrpSpPr/>
          <p:nvPr/>
        </p:nvGrpSpPr>
        <p:grpSpPr>
          <a:xfrm>
            <a:off x="8317280" y="4928094"/>
            <a:ext cx="3713746" cy="1719881"/>
            <a:chOff x="8317280" y="4928094"/>
            <a:chExt cx="3713746" cy="1719881"/>
          </a:xfrm>
        </p:grpSpPr>
        <p:sp>
          <p:nvSpPr>
            <p:cNvPr id="26" name="Rectangle: Rounded Corners 25">
              <a:extLst>
                <a:ext uri="{FF2B5EF4-FFF2-40B4-BE49-F238E27FC236}">
                  <a16:creationId xmlns:a16="http://schemas.microsoft.com/office/drawing/2014/main" id="{ABBB6E1B-8757-C608-3BC9-1D6545B990AA}"/>
                </a:ext>
              </a:extLst>
            </p:cNvPr>
            <p:cNvSpPr/>
            <p:nvPr/>
          </p:nvSpPr>
          <p:spPr>
            <a:xfrm>
              <a:off x="8317280" y="4928094"/>
              <a:ext cx="3713746" cy="1719881"/>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8EDED08-9200-457B-2D7F-CD7D7B667D49}"/>
                </a:ext>
              </a:extLst>
            </p:cNvPr>
            <p:cNvSpPr txBox="1"/>
            <p:nvPr/>
          </p:nvSpPr>
          <p:spPr>
            <a:xfrm>
              <a:off x="8347334" y="5012413"/>
              <a:ext cx="3674495" cy="15630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latin typeface="Times New Roman"/>
                  <a:ea typeface="+mn-lt"/>
                  <a:cs typeface="+mn-lt"/>
                </a:rPr>
                <a:t>Temperature readings from –55°C to +125°C</a:t>
              </a:r>
            </a:p>
            <a:p>
              <a:pPr marL="285750" indent="-285750">
                <a:buFont typeface="Arial"/>
                <a:buChar char="•"/>
              </a:pPr>
              <a:r>
                <a:rPr lang="en-US" sz="1600" dirty="0">
                  <a:solidFill>
                    <a:schemeClr val="bg1"/>
                  </a:solidFill>
                  <a:latin typeface="Times New Roman"/>
                  <a:ea typeface="+mn-lt"/>
                  <a:cs typeface="+mn-lt"/>
                </a:rPr>
                <a:t>Uses a 1-Wire protocol by allowing multiple sensors to connect through a single data pin</a:t>
              </a:r>
            </a:p>
            <a:p>
              <a:pPr marL="285750" indent="-285750">
                <a:buFont typeface="Arial"/>
                <a:buChar char="•"/>
              </a:pPr>
              <a:r>
                <a:rPr lang="en-US" sz="1600" dirty="0">
                  <a:solidFill>
                    <a:schemeClr val="bg1"/>
                  </a:solidFill>
                  <a:latin typeface="Times New Roman"/>
                  <a:ea typeface="+mn-lt"/>
                  <a:cs typeface="+mn-lt"/>
                </a:rPr>
                <a:t>Ideal for Soil temperature monitoring</a:t>
              </a:r>
              <a:endParaRPr lang="en-US" sz="1600" dirty="0">
                <a:solidFill>
                  <a:schemeClr val="bg1"/>
                </a:solidFill>
                <a:latin typeface="Times New Roman"/>
                <a:cs typeface="Times New Roman"/>
              </a:endParaRPr>
            </a:p>
          </p:txBody>
        </p:sp>
      </p:grpSp>
      <p:sp>
        <p:nvSpPr>
          <p:cNvPr id="28" name="Rectangle 27">
            <a:extLst>
              <a:ext uri="{FF2B5EF4-FFF2-40B4-BE49-F238E27FC236}">
                <a16:creationId xmlns:a16="http://schemas.microsoft.com/office/drawing/2014/main" id="{380C40F2-4906-35AE-3228-EB4E0238BE18}"/>
              </a:ext>
            </a:extLst>
          </p:cNvPr>
          <p:cNvSpPr/>
          <p:nvPr/>
        </p:nvSpPr>
        <p:spPr>
          <a:xfrm>
            <a:off x="4790065" y="4407767"/>
            <a:ext cx="2741763" cy="40141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bg1"/>
                </a:solidFill>
                <a:latin typeface="Times New Roman"/>
                <a:ea typeface="+mn-lt"/>
                <a:cs typeface="Times New Roman"/>
              </a:rPr>
              <a:t>Soil Moisture Sensor</a:t>
            </a:r>
            <a:endParaRPr lang="en-US" dirty="0"/>
          </a:p>
        </p:txBody>
      </p:sp>
      <p:sp>
        <p:nvSpPr>
          <p:cNvPr id="29" name="Rectangle 28">
            <a:extLst>
              <a:ext uri="{FF2B5EF4-FFF2-40B4-BE49-F238E27FC236}">
                <a16:creationId xmlns:a16="http://schemas.microsoft.com/office/drawing/2014/main" id="{4A87D096-B1E1-B681-4920-985E065F1674}"/>
              </a:ext>
            </a:extLst>
          </p:cNvPr>
          <p:cNvSpPr/>
          <p:nvPr/>
        </p:nvSpPr>
        <p:spPr>
          <a:xfrm>
            <a:off x="8609178" y="4378270"/>
            <a:ext cx="3129949" cy="40141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bg1"/>
                </a:solidFill>
                <a:latin typeface="Times New Roman"/>
                <a:cs typeface="Times New Roman"/>
              </a:rPr>
              <a:t>DS18B20Temperature Sensor</a:t>
            </a:r>
            <a:endParaRPr lang="en-US" dirty="0">
              <a:solidFill>
                <a:schemeClr val="bg1"/>
              </a:solidFill>
              <a:latin typeface="Times New Roman"/>
              <a:cs typeface="Times New Roman"/>
            </a:endParaRPr>
          </a:p>
        </p:txBody>
      </p:sp>
    </p:spTree>
    <p:extLst>
      <p:ext uri="{BB962C8B-B14F-4D97-AF65-F5344CB8AC3E}">
        <p14:creationId xmlns:p14="http://schemas.microsoft.com/office/powerpoint/2010/main" val="1205788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 of a temperature sensor&#10;&#10;AI-generated content may be incorrect.">
            <a:extLst>
              <a:ext uri="{FF2B5EF4-FFF2-40B4-BE49-F238E27FC236}">
                <a16:creationId xmlns:a16="http://schemas.microsoft.com/office/drawing/2014/main" id="{F210E323-80CC-CAEF-F293-151FD0C395A2}"/>
              </a:ext>
            </a:extLst>
          </p:cNvPr>
          <p:cNvPicPr>
            <a:picLocks noChangeAspect="1"/>
          </p:cNvPicPr>
          <p:nvPr/>
        </p:nvPicPr>
        <p:blipFill>
          <a:blip r:embed="rId2"/>
          <a:stretch>
            <a:fillRect/>
          </a:stretch>
        </p:blipFill>
        <p:spPr>
          <a:xfrm>
            <a:off x="0" y="750442"/>
            <a:ext cx="12192000" cy="6107558"/>
          </a:xfrm>
          <a:prstGeom prst="rect">
            <a:avLst/>
          </a:prstGeom>
        </p:spPr>
      </p:pic>
      <p:sp>
        <p:nvSpPr>
          <p:cNvPr id="6" name="TextBox 5">
            <a:extLst>
              <a:ext uri="{FF2B5EF4-FFF2-40B4-BE49-F238E27FC236}">
                <a16:creationId xmlns:a16="http://schemas.microsoft.com/office/drawing/2014/main" id="{E02FA717-D91D-8FDA-5191-C92DCC16A7FC}"/>
              </a:ext>
            </a:extLst>
          </p:cNvPr>
          <p:cNvSpPr txBox="1"/>
          <p:nvPr/>
        </p:nvSpPr>
        <p:spPr>
          <a:xfrm>
            <a:off x="2823296" y="-82577"/>
            <a:ext cx="61341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000" b="1" spc="100">
                <a:solidFill>
                  <a:schemeClr val="bg1"/>
                </a:solidFill>
                <a:latin typeface="Times New Roman"/>
                <a:ea typeface="+mj-ea"/>
                <a:cs typeface="Times New Roman"/>
              </a:rPr>
              <a:t>Circuit Diagram</a:t>
            </a:r>
            <a:endParaRPr lang="en-US" sz="5000">
              <a:solidFill>
                <a:schemeClr val="bg1"/>
              </a:solidFill>
              <a:latin typeface="Times New Roman"/>
              <a:ea typeface="+mj-ea"/>
              <a:cs typeface="Times New Roman"/>
            </a:endParaRPr>
          </a:p>
        </p:txBody>
      </p:sp>
    </p:spTree>
    <p:extLst>
      <p:ext uri="{BB962C8B-B14F-4D97-AF65-F5344CB8AC3E}">
        <p14:creationId xmlns:p14="http://schemas.microsoft.com/office/powerpoint/2010/main" val="1404263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F24AC13-EFD9-9F0D-29AA-29E6165D90EE}"/>
              </a:ext>
            </a:extLst>
          </p:cNvPr>
          <p:cNvSpPr txBox="1"/>
          <p:nvPr/>
        </p:nvSpPr>
        <p:spPr>
          <a:xfrm>
            <a:off x="2924594" y="124604"/>
            <a:ext cx="63373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000" b="1" spc="100">
                <a:solidFill>
                  <a:schemeClr val="bg1"/>
                </a:solidFill>
                <a:latin typeface="Times New Roman"/>
                <a:ea typeface="+mj-ea"/>
                <a:cs typeface="Times New Roman"/>
              </a:rPr>
              <a:t>Hardware</a:t>
            </a:r>
            <a:r>
              <a:rPr lang="en-US" sz="5000">
                <a:solidFill>
                  <a:schemeClr val="bg1"/>
                </a:solidFill>
                <a:latin typeface="Times New Roman"/>
                <a:cs typeface="Times New Roman"/>
              </a:rPr>
              <a:t> </a:t>
            </a:r>
            <a:r>
              <a:rPr lang="en-US" sz="5000" b="1" spc="100">
                <a:solidFill>
                  <a:schemeClr val="bg1"/>
                </a:solidFill>
                <a:latin typeface="Times New Roman"/>
                <a:cs typeface="Times New Roman"/>
              </a:rPr>
              <a:t>Output</a:t>
            </a:r>
            <a:endParaRPr lang="en-US"/>
          </a:p>
        </p:txBody>
      </p:sp>
      <p:grpSp>
        <p:nvGrpSpPr>
          <p:cNvPr id="12" name="Group 11">
            <a:extLst>
              <a:ext uri="{FF2B5EF4-FFF2-40B4-BE49-F238E27FC236}">
                <a16:creationId xmlns:a16="http://schemas.microsoft.com/office/drawing/2014/main" id="{0BCBAEB9-275F-05DF-EA5F-5C7B41B2A848}"/>
              </a:ext>
            </a:extLst>
          </p:cNvPr>
          <p:cNvGrpSpPr/>
          <p:nvPr/>
        </p:nvGrpSpPr>
        <p:grpSpPr>
          <a:xfrm>
            <a:off x="541493" y="1463841"/>
            <a:ext cx="3973896" cy="2072594"/>
            <a:chOff x="541493" y="1463841"/>
            <a:chExt cx="3973896" cy="2072594"/>
          </a:xfrm>
        </p:grpSpPr>
        <p:sp>
          <p:nvSpPr>
            <p:cNvPr id="3" name="Rectangle: Rounded Corners 2">
              <a:extLst>
                <a:ext uri="{FF2B5EF4-FFF2-40B4-BE49-F238E27FC236}">
                  <a16:creationId xmlns:a16="http://schemas.microsoft.com/office/drawing/2014/main" id="{CCB5556C-7DE0-DA78-8422-298175BA7C4F}"/>
                </a:ext>
              </a:extLst>
            </p:cNvPr>
            <p:cNvSpPr/>
            <p:nvPr/>
          </p:nvSpPr>
          <p:spPr>
            <a:xfrm>
              <a:off x="541493" y="1463841"/>
              <a:ext cx="3973896" cy="2072594"/>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b="1">
                <a:solidFill>
                  <a:schemeClr val="bg1"/>
                </a:solidFill>
                <a:latin typeface="Times New Roman"/>
                <a:cs typeface="Times New Roman"/>
              </a:endParaRPr>
            </a:p>
          </p:txBody>
        </p:sp>
        <p:sp>
          <p:nvSpPr>
            <p:cNvPr id="11" name="TextBox 10">
              <a:extLst>
                <a:ext uri="{FF2B5EF4-FFF2-40B4-BE49-F238E27FC236}">
                  <a16:creationId xmlns:a16="http://schemas.microsoft.com/office/drawing/2014/main" id="{2756041F-E3C8-3718-6532-9D175E7BB22A}"/>
                </a:ext>
              </a:extLst>
            </p:cNvPr>
            <p:cNvSpPr txBox="1"/>
            <p:nvPr/>
          </p:nvSpPr>
          <p:spPr>
            <a:xfrm>
              <a:off x="709642" y="1522862"/>
              <a:ext cx="363195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aseline="0" dirty="0">
                  <a:solidFill>
                    <a:schemeClr val="bg1"/>
                  </a:solidFill>
                  <a:latin typeface="Times New Roman"/>
                  <a:ea typeface="Segoe UI"/>
                  <a:cs typeface="Segoe UI"/>
                </a:rPr>
                <a:t>A few snippets </a:t>
              </a:r>
              <a:r>
                <a:rPr lang="en-US" sz="2400" dirty="0">
                  <a:solidFill>
                    <a:schemeClr val="bg1"/>
                  </a:solidFill>
                  <a:latin typeface="Times New Roman"/>
                  <a:ea typeface="Segoe UI"/>
                  <a:cs typeface="Segoe UI"/>
                </a:rPr>
                <a:t>from the</a:t>
              </a:r>
              <a:r>
                <a:rPr lang="en-US" sz="2400" baseline="0" dirty="0">
                  <a:solidFill>
                    <a:schemeClr val="bg1"/>
                  </a:solidFill>
                  <a:latin typeface="Times New Roman"/>
                  <a:ea typeface="Segoe UI"/>
                  <a:cs typeface="Segoe UI"/>
                </a:rPr>
                <a:t> Serial </a:t>
              </a:r>
              <a:r>
                <a:rPr lang="en-US" sz="2400" dirty="0">
                  <a:solidFill>
                    <a:schemeClr val="bg1"/>
                  </a:solidFill>
                  <a:latin typeface="Times New Roman"/>
                  <a:ea typeface="Segoe UI"/>
                  <a:cs typeface="Segoe UI"/>
                </a:rPr>
                <a:t>Monitor showing</a:t>
              </a:r>
              <a:r>
                <a:rPr lang="en-US" sz="2400" baseline="0" dirty="0">
                  <a:solidFill>
                    <a:schemeClr val="bg1"/>
                  </a:solidFill>
                  <a:latin typeface="Times New Roman"/>
                  <a:ea typeface="Segoe UI"/>
                  <a:cs typeface="Segoe UI"/>
                </a:rPr>
                <a:t> the </a:t>
              </a:r>
              <a:r>
                <a:rPr lang="en-US" sz="2400" dirty="0">
                  <a:solidFill>
                    <a:schemeClr val="bg1"/>
                  </a:solidFill>
                  <a:latin typeface="Times New Roman"/>
                  <a:ea typeface="Segoe UI"/>
                  <a:cs typeface="Segoe UI"/>
                </a:rPr>
                <a:t>output after</a:t>
              </a:r>
              <a:r>
                <a:rPr lang="en-US" sz="2400" baseline="0" dirty="0">
                  <a:solidFill>
                    <a:schemeClr val="bg1"/>
                  </a:solidFill>
                  <a:latin typeface="Times New Roman"/>
                  <a:ea typeface="Segoe UI"/>
                  <a:cs typeface="Segoe UI"/>
                </a:rPr>
                <a:t> testing </a:t>
              </a:r>
              <a:r>
                <a:rPr lang="en-US" sz="2400" dirty="0">
                  <a:solidFill>
                    <a:schemeClr val="bg1"/>
                  </a:solidFill>
                  <a:latin typeface="Times New Roman"/>
                  <a:ea typeface="Segoe UI"/>
                  <a:cs typeface="Segoe UI"/>
                </a:rPr>
                <a:t>the setup </a:t>
              </a:r>
              <a:r>
                <a:rPr lang="en-US" sz="2400" baseline="0" dirty="0">
                  <a:solidFill>
                    <a:schemeClr val="bg1"/>
                  </a:solidFill>
                  <a:latin typeface="Times New Roman"/>
                  <a:ea typeface="Segoe UI"/>
                  <a:cs typeface="Segoe UI"/>
                </a:rPr>
                <a:t>on </a:t>
              </a:r>
              <a:r>
                <a:rPr lang="en-US" sz="2400" dirty="0">
                  <a:solidFill>
                    <a:schemeClr val="bg1"/>
                  </a:solidFill>
                  <a:latin typeface="Times New Roman"/>
                  <a:ea typeface="Segoe UI"/>
                  <a:cs typeface="Segoe UI"/>
                </a:rPr>
                <a:t>a Tulsi</a:t>
              </a:r>
              <a:r>
                <a:rPr lang="en-US" sz="2400" baseline="0" dirty="0">
                  <a:solidFill>
                    <a:schemeClr val="bg1"/>
                  </a:solidFill>
                  <a:latin typeface="Times New Roman"/>
                  <a:ea typeface="Segoe UI"/>
                  <a:cs typeface="Segoe UI"/>
                </a:rPr>
                <a:t> plant at home.</a:t>
              </a:r>
              <a:r>
                <a:rPr sz="2400" dirty="0">
                  <a:solidFill>
                    <a:schemeClr val="bg1"/>
                  </a:solidFill>
                  <a:latin typeface="Times New Roman"/>
                  <a:ea typeface="Times New Roman"/>
                  <a:cs typeface="Times New Roman"/>
                </a:rPr>
                <a:t>​</a:t>
              </a:r>
              <a:endParaRPr lang="en-US" sz="2400" dirty="0">
                <a:solidFill>
                  <a:schemeClr val="bg1"/>
                </a:solidFill>
              </a:endParaRPr>
            </a:p>
          </p:txBody>
        </p:sp>
      </p:grpSp>
      <p:grpSp>
        <p:nvGrpSpPr>
          <p:cNvPr id="13" name="Group 12">
            <a:extLst>
              <a:ext uri="{FF2B5EF4-FFF2-40B4-BE49-F238E27FC236}">
                <a16:creationId xmlns:a16="http://schemas.microsoft.com/office/drawing/2014/main" id="{3177CFBA-40FB-481E-4685-A492D254FB5E}"/>
              </a:ext>
            </a:extLst>
          </p:cNvPr>
          <p:cNvGrpSpPr/>
          <p:nvPr/>
        </p:nvGrpSpPr>
        <p:grpSpPr>
          <a:xfrm>
            <a:off x="537114" y="4268952"/>
            <a:ext cx="3968261" cy="1891745"/>
            <a:chOff x="551491" y="4383971"/>
            <a:chExt cx="3968261" cy="1891745"/>
          </a:xfrm>
        </p:grpSpPr>
        <p:sp>
          <p:nvSpPr>
            <p:cNvPr id="15" name="Rectangle: Rounded Corners 14">
              <a:extLst>
                <a:ext uri="{FF2B5EF4-FFF2-40B4-BE49-F238E27FC236}">
                  <a16:creationId xmlns:a16="http://schemas.microsoft.com/office/drawing/2014/main" id="{7BC9C5AA-F455-68B1-7117-3CC68D7CCBF3}"/>
                </a:ext>
              </a:extLst>
            </p:cNvPr>
            <p:cNvSpPr/>
            <p:nvPr/>
          </p:nvSpPr>
          <p:spPr>
            <a:xfrm>
              <a:off x="555870" y="4383971"/>
              <a:ext cx="3963882" cy="189174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solidFill>
                  <a:schemeClr val="bg1"/>
                </a:solidFill>
                <a:latin typeface="Times New Roman"/>
                <a:cs typeface="Times New Roman"/>
              </a:endParaRPr>
            </a:p>
          </p:txBody>
        </p:sp>
        <p:sp>
          <p:nvSpPr>
            <p:cNvPr id="17" name="TextBox 16">
              <a:extLst>
                <a:ext uri="{FF2B5EF4-FFF2-40B4-BE49-F238E27FC236}">
                  <a16:creationId xmlns:a16="http://schemas.microsoft.com/office/drawing/2014/main" id="{7E579685-D285-B133-DD4C-8B12EB4748AD}"/>
                </a:ext>
              </a:extLst>
            </p:cNvPr>
            <p:cNvSpPr txBox="1"/>
            <p:nvPr/>
          </p:nvSpPr>
          <p:spPr>
            <a:xfrm>
              <a:off x="551491" y="4544539"/>
              <a:ext cx="395241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2400" dirty="0">
                  <a:solidFill>
                    <a:schemeClr val="bg1"/>
                  </a:solidFill>
                  <a:latin typeface="Times New Roman"/>
                  <a:ea typeface="Segoe UI"/>
                  <a:cs typeface="Segoe UI"/>
                </a:rPr>
                <a:t>Variation in Soil Moisture as water is being added</a:t>
              </a:r>
              <a:endParaRPr lang="en-US" sz="2400" dirty="0">
                <a:solidFill>
                  <a:schemeClr val="bg1"/>
                </a:solidFill>
                <a:latin typeface="Times New Roman"/>
                <a:ea typeface="Segoe UI"/>
                <a:cs typeface="Times New Roman"/>
              </a:endParaRPr>
            </a:p>
            <a:p>
              <a:pPr marL="171450" indent="-171450">
                <a:buFont typeface="Arial"/>
                <a:buChar char="•"/>
              </a:pPr>
              <a:r>
                <a:rPr lang="en-US" sz="2400" dirty="0">
                  <a:solidFill>
                    <a:schemeClr val="bg1"/>
                  </a:solidFill>
                  <a:latin typeface="Times New Roman"/>
                  <a:ea typeface="Segoe UI"/>
                  <a:cs typeface="Times New Roman"/>
                </a:rPr>
                <a:t>Variation </a:t>
              </a:r>
              <a:r>
                <a:rPr lang="en-US" sz="2400" dirty="0">
                  <a:solidFill>
                    <a:schemeClr val="bg1"/>
                  </a:solidFill>
                  <a:latin typeface="Times New Roman"/>
                  <a:ea typeface="Segoe UI"/>
                  <a:cs typeface="Segoe UI"/>
                </a:rPr>
                <a:t>in Temperature</a:t>
              </a:r>
              <a:r>
                <a:rPr lang="en-US" sz="2400" baseline="0" dirty="0">
                  <a:solidFill>
                    <a:schemeClr val="bg1"/>
                  </a:solidFill>
                  <a:latin typeface="Times New Roman"/>
                  <a:ea typeface="Segoe UI"/>
                  <a:cs typeface="Segoe UI"/>
                </a:rPr>
                <a:t> </a:t>
              </a:r>
              <a:r>
                <a:rPr lang="en-US" sz="2400" dirty="0">
                  <a:solidFill>
                    <a:schemeClr val="bg1"/>
                  </a:solidFill>
                  <a:latin typeface="Times New Roman"/>
                  <a:ea typeface="Segoe UI"/>
                  <a:cs typeface="Segoe UI"/>
                </a:rPr>
                <a:t>as dry</a:t>
              </a:r>
              <a:r>
                <a:rPr lang="en-US" sz="2400" baseline="0" dirty="0">
                  <a:solidFill>
                    <a:schemeClr val="bg1"/>
                  </a:solidFill>
                  <a:latin typeface="Times New Roman"/>
                  <a:ea typeface="Segoe UI"/>
                  <a:cs typeface="Segoe UI"/>
                </a:rPr>
                <a:t> soil </a:t>
              </a:r>
              <a:r>
                <a:rPr lang="en-US" sz="2400" dirty="0">
                  <a:solidFill>
                    <a:schemeClr val="bg1"/>
                  </a:solidFill>
                  <a:latin typeface="Times New Roman"/>
                  <a:ea typeface="Segoe UI"/>
                  <a:cs typeface="Segoe UI"/>
                </a:rPr>
                <a:t>is being moisturized</a:t>
              </a:r>
              <a:endParaRPr lang="en-US" sz="2400" dirty="0">
                <a:solidFill>
                  <a:schemeClr val="bg1"/>
                </a:solidFill>
                <a:latin typeface="Times New Roman"/>
                <a:cs typeface="Times New Roman"/>
              </a:endParaRPr>
            </a:p>
          </p:txBody>
        </p:sp>
      </p:grpSp>
      <p:pic>
        <p:nvPicPr>
          <p:cNvPr id="8" name="Picture 7" descr="A screen shot of a computer&#10;&#10;AI-generated content may be incorrect.">
            <a:extLst>
              <a:ext uri="{FF2B5EF4-FFF2-40B4-BE49-F238E27FC236}">
                <a16:creationId xmlns:a16="http://schemas.microsoft.com/office/drawing/2014/main" id="{7873A65B-B37C-29CC-5777-1B91CFB11802}"/>
              </a:ext>
            </a:extLst>
          </p:cNvPr>
          <p:cNvPicPr>
            <a:picLocks noChangeAspect="1"/>
          </p:cNvPicPr>
          <p:nvPr/>
        </p:nvPicPr>
        <p:blipFill>
          <a:blip r:embed="rId2"/>
          <a:srcRect t="44785"/>
          <a:stretch>
            <a:fillRect/>
          </a:stretch>
        </p:blipFill>
        <p:spPr>
          <a:xfrm>
            <a:off x="8354223" y="1345812"/>
            <a:ext cx="3420910" cy="5401012"/>
          </a:xfrm>
          <a:prstGeom prst="rect">
            <a:avLst/>
          </a:prstGeom>
        </p:spPr>
      </p:pic>
      <p:pic>
        <p:nvPicPr>
          <p:cNvPr id="2" name="Picture 1">
            <a:extLst>
              <a:ext uri="{FF2B5EF4-FFF2-40B4-BE49-F238E27FC236}">
                <a16:creationId xmlns:a16="http://schemas.microsoft.com/office/drawing/2014/main" id="{BDB99AF0-59DE-05E5-7FB7-0B1E2008CD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7049" y="1345812"/>
            <a:ext cx="3025234" cy="3467122"/>
          </a:xfrm>
          <a:prstGeom prst="rect">
            <a:avLst/>
          </a:prstGeom>
        </p:spPr>
      </p:pic>
      <p:pic>
        <p:nvPicPr>
          <p:cNvPr id="4" name="Picture 3">
            <a:extLst>
              <a:ext uri="{FF2B5EF4-FFF2-40B4-BE49-F238E27FC236}">
                <a16:creationId xmlns:a16="http://schemas.microsoft.com/office/drawing/2014/main" id="{E917542C-69EB-DEC8-882A-180B4DA0A9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7048" y="5160260"/>
            <a:ext cx="3025234" cy="970049"/>
          </a:xfrm>
          <a:prstGeom prst="rect">
            <a:avLst/>
          </a:prstGeom>
        </p:spPr>
      </p:pic>
    </p:spTree>
    <p:extLst>
      <p:ext uri="{BB962C8B-B14F-4D97-AF65-F5344CB8AC3E}">
        <p14:creationId xmlns:p14="http://schemas.microsoft.com/office/powerpoint/2010/main" val="502870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8FEC4-34E0-6E6E-658C-E05C5EDA3F0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421BBA3-23FF-56B2-08C1-F65E37286C58}"/>
              </a:ext>
            </a:extLst>
          </p:cNvPr>
          <p:cNvSpPr txBox="1">
            <a:spLocks/>
          </p:cNvSpPr>
          <p:nvPr/>
        </p:nvSpPr>
        <p:spPr>
          <a:xfrm>
            <a:off x="838200" y="131628"/>
            <a:ext cx="10515600" cy="712662"/>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5000">
                <a:latin typeface="Times New Roman"/>
                <a:cs typeface="Times New Roman"/>
              </a:rPr>
              <a:t>Roadmap of the Future Work</a:t>
            </a:r>
            <a:endParaRPr lang="en-IN" sz="5000">
              <a:latin typeface="Times New Roman"/>
              <a:cs typeface="Times New Roman"/>
            </a:endParaRPr>
          </a:p>
        </p:txBody>
      </p:sp>
      <p:sp>
        <p:nvSpPr>
          <p:cNvPr id="6" name="TextBox 5">
            <a:extLst>
              <a:ext uri="{FF2B5EF4-FFF2-40B4-BE49-F238E27FC236}">
                <a16:creationId xmlns:a16="http://schemas.microsoft.com/office/drawing/2014/main" id="{A4CE3BED-C820-9ABF-D3D0-26610F5D0AB7}"/>
              </a:ext>
            </a:extLst>
          </p:cNvPr>
          <p:cNvSpPr txBox="1"/>
          <p:nvPr/>
        </p:nvSpPr>
        <p:spPr>
          <a:xfrm>
            <a:off x="3484876" y="950912"/>
            <a:ext cx="555978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chemeClr val="bg1"/>
                </a:solidFill>
                <a:latin typeface="Times New Roman"/>
                <a:cs typeface="Times New Roman"/>
              </a:rPr>
              <a:t>Proposed Work for 8th semester</a:t>
            </a:r>
          </a:p>
        </p:txBody>
      </p:sp>
      <p:sp>
        <p:nvSpPr>
          <p:cNvPr id="10" name="Rectangle: Rounded Corners 9">
            <a:extLst>
              <a:ext uri="{FF2B5EF4-FFF2-40B4-BE49-F238E27FC236}">
                <a16:creationId xmlns:a16="http://schemas.microsoft.com/office/drawing/2014/main" id="{C201D31C-602C-700F-0E93-BDA01A54B956}"/>
              </a:ext>
            </a:extLst>
          </p:cNvPr>
          <p:cNvSpPr/>
          <p:nvPr/>
        </p:nvSpPr>
        <p:spPr>
          <a:xfrm>
            <a:off x="262808" y="1602338"/>
            <a:ext cx="5562568" cy="228013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dirty="0">
                <a:solidFill>
                  <a:schemeClr val="bg1"/>
                </a:solidFill>
                <a:latin typeface="Times New Roman"/>
                <a:cs typeface="Times New Roman"/>
              </a:rPr>
              <a:t>1. Integration of PH sensor and NPK sensor</a:t>
            </a:r>
            <a:endParaRPr lang="en-US" dirty="0">
              <a:solidFill>
                <a:schemeClr val="bg1"/>
              </a:solidFill>
              <a:latin typeface="Times New Roman"/>
              <a:cs typeface="Times New Roman"/>
            </a:endParaRPr>
          </a:p>
          <a:p>
            <a:pPr marL="285750" indent="-285750">
              <a:buFont typeface="Arial"/>
              <a:buChar char="•"/>
            </a:pPr>
            <a:r>
              <a:rPr lang="en-US" dirty="0">
                <a:solidFill>
                  <a:schemeClr val="bg1"/>
                </a:solidFill>
                <a:latin typeface="Times New Roman"/>
                <a:ea typeface="+mn-lt"/>
                <a:cs typeface="+mn-lt"/>
              </a:rPr>
              <a:t>Integrate pH and NPK sensors with the existing setup</a:t>
            </a:r>
            <a:endParaRPr lang="en-US" dirty="0">
              <a:solidFill>
                <a:schemeClr val="bg1"/>
              </a:solidFill>
              <a:latin typeface="Times New Roman"/>
              <a:cs typeface="Segoe UI"/>
            </a:endParaRPr>
          </a:p>
          <a:p>
            <a:pPr marL="285750" indent="-285750">
              <a:buFont typeface="Arial"/>
              <a:buChar char="•"/>
            </a:pPr>
            <a:r>
              <a:rPr lang="en-US" dirty="0">
                <a:solidFill>
                  <a:schemeClr val="bg1"/>
                </a:solidFill>
                <a:latin typeface="Times New Roman"/>
                <a:ea typeface="+mn-lt"/>
                <a:cs typeface="+mn-lt"/>
              </a:rPr>
              <a:t>Retrieve real-time soil data directly through sensors</a:t>
            </a:r>
          </a:p>
          <a:p>
            <a:pPr marL="285750" indent="-285750">
              <a:buFont typeface="Arial"/>
              <a:buChar char="•"/>
            </a:pPr>
            <a:r>
              <a:rPr lang="en-US" dirty="0">
                <a:solidFill>
                  <a:schemeClr val="bg1"/>
                </a:solidFill>
                <a:latin typeface="Times New Roman"/>
                <a:ea typeface="+mn-lt"/>
                <a:cs typeface="+mn-lt"/>
              </a:rPr>
              <a:t>Auto-process these values to predict the best crops accurately</a:t>
            </a:r>
          </a:p>
          <a:p>
            <a:pPr marL="285750" indent="-285750">
              <a:buFont typeface="Arial"/>
              <a:buChar char="•"/>
            </a:pPr>
            <a:r>
              <a:rPr lang="en-US" dirty="0">
                <a:solidFill>
                  <a:schemeClr val="bg1"/>
                </a:solidFill>
                <a:latin typeface="Times New Roman"/>
                <a:ea typeface="+mn-lt"/>
                <a:cs typeface="+mn-lt"/>
              </a:rPr>
              <a:t>Remove the need for manual input of soil parameters</a:t>
            </a:r>
            <a:endParaRPr lang="en-US">
              <a:solidFill>
                <a:schemeClr val="bg1"/>
              </a:solidFill>
              <a:latin typeface="Times New Roman"/>
              <a:cs typeface="Times New Roman"/>
            </a:endParaRPr>
          </a:p>
        </p:txBody>
      </p:sp>
      <p:sp>
        <p:nvSpPr>
          <p:cNvPr id="14" name="Rectangle: Rounded Corners 13">
            <a:extLst>
              <a:ext uri="{FF2B5EF4-FFF2-40B4-BE49-F238E27FC236}">
                <a16:creationId xmlns:a16="http://schemas.microsoft.com/office/drawing/2014/main" id="{8380252F-3743-D452-7062-49EC5BE89686}"/>
              </a:ext>
            </a:extLst>
          </p:cNvPr>
          <p:cNvSpPr/>
          <p:nvPr/>
        </p:nvSpPr>
        <p:spPr>
          <a:xfrm>
            <a:off x="6272544" y="1596107"/>
            <a:ext cx="5562568" cy="2290881"/>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dirty="0">
                <a:solidFill>
                  <a:schemeClr val="bg1"/>
                </a:solidFill>
                <a:latin typeface="Times New Roman"/>
                <a:cs typeface="Times New Roman"/>
              </a:rPr>
              <a:t>2. LLM</a:t>
            </a:r>
            <a:r>
              <a:rPr lang="en-US" b="1" dirty="0">
                <a:solidFill>
                  <a:schemeClr val="bg1"/>
                </a:solidFill>
                <a:latin typeface="Times New Roman"/>
                <a:ea typeface="+mn-lt"/>
                <a:cs typeface="+mn-lt"/>
              </a:rPr>
              <a:t> Chatbot Integration for Better Efficiency</a:t>
            </a:r>
            <a:endParaRPr lang="en-US" b="1" dirty="0">
              <a:solidFill>
                <a:schemeClr val="bg1"/>
              </a:solidFill>
              <a:latin typeface="Times New Roman"/>
              <a:cs typeface="Times New Roman"/>
            </a:endParaRPr>
          </a:p>
          <a:p>
            <a:pPr marL="285750" indent="-285750">
              <a:buFont typeface="Arial"/>
              <a:buChar char="•"/>
            </a:pPr>
            <a:r>
              <a:rPr lang="en-US" dirty="0">
                <a:solidFill>
                  <a:schemeClr val="bg1"/>
                </a:solidFill>
                <a:latin typeface="Times New Roman"/>
                <a:ea typeface="+mn-lt"/>
                <a:cs typeface="+mn-lt"/>
              </a:rPr>
              <a:t>Integrate an LLM-powered chatbot into the app</a:t>
            </a:r>
          </a:p>
          <a:p>
            <a:pPr marL="285750" indent="-285750">
              <a:buFont typeface="Arial"/>
              <a:buChar char="•"/>
            </a:pPr>
            <a:r>
              <a:rPr lang="en-US" dirty="0">
                <a:solidFill>
                  <a:schemeClr val="bg1"/>
                </a:solidFill>
                <a:latin typeface="Times New Roman"/>
                <a:ea typeface="+mn-lt"/>
                <a:cs typeface="+mn-lt"/>
              </a:rPr>
              <a:t>Help farmers quickly search for crop-related information</a:t>
            </a:r>
          </a:p>
          <a:p>
            <a:pPr marL="285750" indent="-285750">
              <a:buFont typeface="Arial"/>
              <a:buChar char="•"/>
            </a:pPr>
            <a:r>
              <a:rPr lang="en-US" dirty="0">
                <a:solidFill>
                  <a:schemeClr val="bg1"/>
                </a:solidFill>
                <a:latin typeface="Times New Roman"/>
                <a:ea typeface="+mn-lt"/>
                <a:cs typeface="+mn-lt"/>
              </a:rPr>
              <a:t>Make the app more user-friendly and functional</a:t>
            </a:r>
          </a:p>
          <a:p>
            <a:pPr marL="285750" indent="-285750">
              <a:buFont typeface="Arial"/>
              <a:buChar char="•"/>
            </a:pPr>
            <a:r>
              <a:rPr lang="en-US" dirty="0">
                <a:solidFill>
                  <a:schemeClr val="bg1"/>
                </a:solidFill>
                <a:latin typeface="Times New Roman"/>
                <a:ea typeface="+mn-lt"/>
                <a:cs typeface="+mn-lt"/>
              </a:rPr>
              <a:t>Provide accurate and precise guidance to save farmers’ time and effort</a:t>
            </a:r>
            <a:endParaRPr lang="en-US">
              <a:solidFill>
                <a:schemeClr val="bg1"/>
              </a:solidFill>
              <a:latin typeface="Times New Roman"/>
              <a:cs typeface="Times New Roman"/>
            </a:endParaRPr>
          </a:p>
        </p:txBody>
      </p:sp>
      <p:grpSp>
        <p:nvGrpSpPr>
          <p:cNvPr id="13" name="Group 12">
            <a:extLst>
              <a:ext uri="{FF2B5EF4-FFF2-40B4-BE49-F238E27FC236}">
                <a16:creationId xmlns:a16="http://schemas.microsoft.com/office/drawing/2014/main" id="{05D7449F-E0AC-1D57-66BB-42FCAAF3AEFF}"/>
              </a:ext>
            </a:extLst>
          </p:cNvPr>
          <p:cNvGrpSpPr/>
          <p:nvPr/>
        </p:nvGrpSpPr>
        <p:grpSpPr>
          <a:xfrm>
            <a:off x="6416317" y="4234156"/>
            <a:ext cx="5260825" cy="2286753"/>
            <a:chOff x="6330053" y="4234156"/>
            <a:chExt cx="5260825" cy="2286753"/>
          </a:xfrm>
        </p:grpSpPr>
        <p:pic>
          <p:nvPicPr>
            <p:cNvPr id="15" name="Picture 14" descr="A black device with a blue label&#10;&#10;AI-generated content may be incorrect.">
              <a:extLst>
                <a:ext uri="{FF2B5EF4-FFF2-40B4-BE49-F238E27FC236}">
                  <a16:creationId xmlns:a16="http://schemas.microsoft.com/office/drawing/2014/main" id="{5B46C379-0289-49FD-6607-F7BFA7C070B5}"/>
                </a:ext>
              </a:extLst>
            </p:cNvPr>
            <p:cNvPicPr>
              <a:picLocks noChangeAspect="1"/>
            </p:cNvPicPr>
            <p:nvPr/>
          </p:nvPicPr>
          <p:blipFill>
            <a:blip r:embed="rId2"/>
            <a:stretch>
              <a:fillRect/>
            </a:stretch>
          </p:blipFill>
          <p:spPr>
            <a:xfrm>
              <a:off x="6330053" y="4234156"/>
              <a:ext cx="2977441" cy="2286753"/>
            </a:xfrm>
            <a:prstGeom prst="rect">
              <a:avLst/>
            </a:prstGeom>
          </p:spPr>
        </p:pic>
        <p:sp>
          <p:nvSpPr>
            <p:cNvPr id="4" name="Rectangle: Rounded Corners 3">
              <a:extLst>
                <a:ext uri="{FF2B5EF4-FFF2-40B4-BE49-F238E27FC236}">
                  <a16:creationId xmlns:a16="http://schemas.microsoft.com/office/drawing/2014/main" id="{A3FBB51E-DB8D-F4D9-CF40-36BBAE596998}"/>
                </a:ext>
              </a:extLst>
            </p:cNvPr>
            <p:cNvSpPr/>
            <p:nvPr/>
          </p:nvSpPr>
          <p:spPr>
            <a:xfrm>
              <a:off x="10152469" y="4961822"/>
              <a:ext cx="1438409" cy="604283"/>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solidFill>
                    <a:schemeClr val="bg1"/>
                  </a:solidFill>
                  <a:latin typeface="Times New Roman"/>
                  <a:cs typeface="Times New Roman"/>
                </a:rPr>
                <a:t>NPK Sensor</a:t>
              </a:r>
            </a:p>
          </p:txBody>
        </p:sp>
        <p:sp>
          <p:nvSpPr>
            <p:cNvPr id="9" name="Arrow: Right 8">
              <a:extLst>
                <a:ext uri="{FF2B5EF4-FFF2-40B4-BE49-F238E27FC236}">
                  <a16:creationId xmlns:a16="http://schemas.microsoft.com/office/drawing/2014/main" id="{21F0CE87-F2B1-80E9-EBA7-945A30BB4FF7}"/>
                </a:ext>
              </a:extLst>
            </p:cNvPr>
            <p:cNvSpPr/>
            <p:nvPr/>
          </p:nvSpPr>
          <p:spPr>
            <a:xfrm>
              <a:off x="9454925" y="5146488"/>
              <a:ext cx="575728" cy="228144"/>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84DFE3A9-652A-CF1B-B433-7F510A14283D}"/>
              </a:ext>
            </a:extLst>
          </p:cNvPr>
          <p:cNvGrpSpPr/>
          <p:nvPr/>
        </p:nvGrpSpPr>
        <p:grpSpPr>
          <a:xfrm>
            <a:off x="301184" y="4237533"/>
            <a:ext cx="5483523" cy="2285801"/>
            <a:chOff x="5836467" y="2771043"/>
            <a:chExt cx="5483523" cy="2285801"/>
          </a:xfrm>
        </p:grpSpPr>
        <p:pic>
          <p:nvPicPr>
            <p:cNvPr id="16" name="Picture 15" descr="A blue tube with a blue tube next to a green circuit board">
              <a:extLst>
                <a:ext uri="{FF2B5EF4-FFF2-40B4-BE49-F238E27FC236}">
                  <a16:creationId xmlns:a16="http://schemas.microsoft.com/office/drawing/2014/main" id="{10C2009E-2242-329A-894B-24C8EBD3ACC2}"/>
                </a:ext>
              </a:extLst>
            </p:cNvPr>
            <p:cNvPicPr>
              <a:picLocks noChangeAspect="1"/>
            </p:cNvPicPr>
            <p:nvPr/>
          </p:nvPicPr>
          <p:blipFill>
            <a:blip r:embed="rId3"/>
            <a:srcRect l="4494" t="13894" r="3372" b="20055"/>
            <a:stretch>
              <a:fillRect/>
            </a:stretch>
          </p:blipFill>
          <p:spPr>
            <a:xfrm>
              <a:off x="5836467" y="2771043"/>
              <a:ext cx="4316704" cy="2285801"/>
            </a:xfrm>
            <a:prstGeom prst="rect">
              <a:avLst/>
            </a:prstGeom>
          </p:spPr>
        </p:pic>
        <p:sp>
          <p:nvSpPr>
            <p:cNvPr id="5" name="Rectangle: Rounded Corners 4">
              <a:extLst>
                <a:ext uri="{FF2B5EF4-FFF2-40B4-BE49-F238E27FC236}">
                  <a16:creationId xmlns:a16="http://schemas.microsoft.com/office/drawing/2014/main" id="{38403EC9-5EE6-245D-0F8A-6CA0720DE7B7}"/>
                </a:ext>
              </a:extLst>
            </p:cNvPr>
            <p:cNvSpPr/>
            <p:nvPr/>
          </p:nvSpPr>
          <p:spPr>
            <a:xfrm>
              <a:off x="10149074" y="3516367"/>
              <a:ext cx="1170916" cy="614721"/>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dirty="0">
                  <a:solidFill>
                    <a:schemeClr val="bg1"/>
                  </a:solidFill>
                  <a:latin typeface="Times New Roman"/>
                  <a:cs typeface="Times New Roman"/>
                </a:rPr>
                <a:t>pH sensor</a:t>
              </a:r>
            </a:p>
          </p:txBody>
        </p:sp>
        <p:sp>
          <p:nvSpPr>
            <p:cNvPr id="11" name="Arrow: Right 10">
              <a:extLst>
                <a:ext uri="{FF2B5EF4-FFF2-40B4-BE49-F238E27FC236}">
                  <a16:creationId xmlns:a16="http://schemas.microsoft.com/office/drawing/2014/main" id="{24508799-49AA-3583-E110-E9F455ED7861}"/>
                </a:ext>
              </a:extLst>
            </p:cNvPr>
            <p:cNvSpPr/>
            <p:nvPr/>
          </p:nvSpPr>
          <p:spPr>
            <a:xfrm>
              <a:off x="9466797" y="3672278"/>
              <a:ext cx="575728" cy="228144"/>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31456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8540" y="2082648"/>
            <a:ext cx="8523086" cy="186204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11500" b="1" dirty="0">
                <a:ln/>
                <a:solidFill>
                  <a:schemeClr val="accent3"/>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182091864"/>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Geometric annual presentation</Template>
  <TotalTime>59</TotalTime>
  <Words>538</Words>
  <Application>Microsoft Office PowerPoint</Application>
  <PresentationFormat>Widescreen</PresentationFormat>
  <Paragraphs>70</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Franklin Gothic Book</vt:lpstr>
      <vt:lpstr>Franklin Gothic Demi</vt:lpstr>
      <vt:lpstr>Times New Roman</vt:lpstr>
      <vt:lpstr>Wingdings</vt:lpstr>
      <vt:lpstr>Custom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upayanchk2024@outlook.com</dc:creator>
  <cp:lastModifiedBy>Sandipan Rakshit</cp:lastModifiedBy>
  <cp:revision>150</cp:revision>
  <dcterms:created xsi:type="dcterms:W3CDTF">2025-05-03T18:27:23Z</dcterms:created>
  <dcterms:modified xsi:type="dcterms:W3CDTF">2025-11-19T16:51:54Z</dcterms:modified>
</cp:coreProperties>
</file>